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embeddedFontLst>
    <p:embeddedFont>
      <p:font typeface="Average"/>
      <p:regular r:id="rId65"/>
    </p:embeddedFont>
    <p:embeddedFont>
      <p:font typeface="Oswald"/>
      <p:regular r:id="rId66"/>
      <p:bold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E3858F-1951-46F4-A0FF-0E9F7401E8DE}">
  <a:tblStyle styleId="{ECE3858F-1951-46F4-A0FF-0E9F7401E8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Oswald-regular.fntdata"/><Relationship Id="rId21" Type="http://schemas.openxmlformats.org/officeDocument/2006/relationships/slide" Target="slides/slide15.xml"/><Relationship Id="rId65" Type="http://schemas.openxmlformats.org/officeDocument/2006/relationships/font" Target="fonts/Average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Oswald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03ae8e2e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03ae8e2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308cfad5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308cfad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03ae8e2ea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03ae8e2e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03ae8e2ea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03ae8e2e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308cfad5d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308cfad5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03ae8e2ea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03ae8e2e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308cfad5d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308cfad5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08cfad5d_0_1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308cfad5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308cfad5d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308cfad5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03ae8e2ea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03ae8e2e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2e63a34b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2e63a34b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308cfad5d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308cfad5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308cfad5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308cfad5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308cfad5d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308cfad5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308cfad5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308cfad5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08cfad5d_0_1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308cfad5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308cfad5d_0_1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308cfad5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308cfad5d_0_1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308cfad5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308cfad5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f308cfad5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308cfad5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308cfad5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308cfad5d_0_1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308cfad5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308cfad5d_0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308cfad5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308cfad5d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308cfad5d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308cfad5d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308cfad5d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308cfad5d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308cfad5d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308cfad5d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308cfad5d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308cfad5d_0_2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308cfad5d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308cfad5d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308cfad5d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308cfad5d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308cfad5d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308cfad5d_0_27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308cfad5d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308cfad5d_0_2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308cfad5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308cfad5d_0_2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308cfad5d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2e63a34b2_0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2e63a34b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308cfad5d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308cfad5d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308cfad5d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308cfad5d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308cfad5d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308cfad5d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02ebbaca4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02ebbaca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308cfad5d_0_3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f308cfad5d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2e63a34b2_0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f2e63a34b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308cfad5d_0_3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f308cfad5d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308cfad5d_0_3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f308cfad5d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308cfad5d_0_4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308cfad5d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308cfad5d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f308cfad5d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308cfad5d_0_2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f308cfad5d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2e63a34b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2e63a34b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308cfad5d_0_4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f308cfad5d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2e63a34b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f2e63a34b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308cfad5d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f308cfad5d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f308cfad5d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f308cfad5d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308cfad5d_0_4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f308cfad5d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308cfad5d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f308cfad5d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Relationship Id="rId5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0.png"/><Relationship Id="rId4" Type="http://schemas.openxmlformats.org/officeDocument/2006/relationships/image" Target="../media/image3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.png"/><Relationship Id="rId4" Type="http://schemas.openxmlformats.org/officeDocument/2006/relationships/image" Target="../media/image46.png"/><Relationship Id="rId5" Type="http://schemas.openxmlformats.org/officeDocument/2006/relationships/image" Target="../media/image5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Fundamentals and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of Database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- 3</a:t>
            </a:r>
            <a:br>
              <a:rPr lang="en"/>
            </a:br>
            <a:r>
              <a:rPr lang="en"/>
              <a:t>Day - 04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vs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Database? And why it matters?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Table, Rows, and Columns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SQL commands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First SQL Query: Select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query Executes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Filters with WHERE, </a:t>
            </a:r>
            <a:r>
              <a:rPr lang="en"/>
              <a:t>Sorting</a:t>
            </a:r>
            <a:r>
              <a:rPr lang="en"/>
              <a:t> with ORDER BY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Grouping, Aggregations, and Handling Nulls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JOINS and its 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Combining with JOINS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 sz="2500"/>
          </a:p>
        </p:txBody>
      </p:sp>
      <p:sp>
        <p:nvSpPr>
          <p:cNvPr id="72" name="Google Shape;72;p15"/>
          <p:cNvSpPr txBox="1"/>
          <p:nvPr>
            <p:ph idx="2" type="body"/>
          </p:nvPr>
        </p:nvSpPr>
        <p:spPr>
          <a:xfrm>
            <a:off x="4767600" y="613950"/>
            <a:ext cx="4207200" cy="42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Raw, unorganized facts, figures, observations, or symbols that have not yet been processed or contextualized</a:t>
            </a:r>
            <a:r>
              <a:rPr lang="en" sz="2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3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</a:t>
            </a:r>
            <a:endParaRPr sz="2500"/>
          </a:p>
        </p:txBody>
      </p:sp>
      <p:sp>
        <p:nvSpPr>
          <p:cNvPr id="78" name="Google Shape;78;p16"/>
          <p:cNvSpPr txBox="1"/>
          <p:nvPr>
            <p:ph idx="2" type="body"/>
          </p:nvPr>
        </p:nvSpPr>
        <p:spPr>
          <a:xfrm>
            <a:off x="4767600" y="613950"/>
            <a:ext cx="4207200" cy="42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3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structured, processed, or organized data that has meaning and context </a:t>
            </a:r>
            <a:r>
              <a:rPr lang="en" sz="2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3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537000" y="461100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What is Database?</a:t>
            </a:r>
            <a:endParaRPr sz="4200"/>
          </a:p>
        </p:txBody>
      </p:sp>
      <p:sp>
        <p:nvSpPr>
          <p:cNvPr id="84" name="Google Shape;84;p17"/>
          <p:cNvSpPr txBox="1"/>
          <p:nvPr/>
        </p:nvSpPr>
        <p:spPr>
          <a:xfrm>
            <a:off x="658025" y="1200600"/>
            <a:ext cx="58314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 database is an organized collection of data stored electronically.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85" name="Google Shape;85;p17"/>
          <p:cNvSpPr txBox="1"/>
          <p:nvPr/>
        </p:nvSpPr>
        <p:spPr>
          <a:xfrm>
            <a:off x="6586100" y="985125"/>
            <a:ext cx="2202600" cy="3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Think of it as Digital </a:t>
            </a: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filing</a:t>
            </a:r>
            <a:r>
              <a:rPr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 cabinet.</a:t>
            </a:r>
            <a:endParaRPr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288" y="1673839"/>
            <a:ext cx="2264225" cy="226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692250" y="2267987"/>
            <a:ext cx="5863200" cy="26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Why Database why not excel or any other tool?</a:t>
            </a:r>
            <a:endParaRPr b="1"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Instead of keeping information in paper files or Excel sheets scattered across your computer, a database keeps everything in one place — organized, searchable, and secure.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537000" y="461100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Databases are everywhere:</a:t>
            </a:r>
            <a:endParaRPr b="1" sz="5000"/>
          </a:p>
        </p:txBody>
      </p:sp>
      <p:sp>
        <p:nvSpPr>
          <p:cNvPr id="93" name="Google Shape;93;p18"/>
          <p:cNvSpPr txBox="1"/>
          <p:nvPr/>
        </p:nvSpPr>
        <p:spPr>
          <a:xfrm>
            <a:off x="537000" y="1200600"/>
            <a:ext cx="6073200" cy="3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00"/>
              <a:buChar char="●"/>
            </a:pPr>
            <a:r>
              <a:rPr lang="en" sz="1900">
                <a:solidFill>
                  <a:srgbClr val="334155"/>
                </a:solidFill>
              </a:rPr>
              <a:t>Your bank stores your account balance and transactions.</a:t>
            </a:r>
            <a:endParaRPr sz="1900">
              <a:solidFill>
                <a:srgbClr val="334155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900">
                <a:solidFill>
                  <a:srgbClr val="334155"/>
                </a:solidFill>
              </a:rPr>
              <a:t>Amazon stores products, prices, and your order history</a:t>
            </a:r>
            <a:r>
              <a:rPr lang="en" sz="1600"/>
              <a:t>.</a:t>
            </a:r>
            <a:endParaRPr sz="16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900">
                <a:solidFill>
                  <a:srgbClr val="334155"/>
                </a:solidFill>
              </a:rPr>
              <a:t>Your phone's contact list is a simple database</a:t>
            </a:r>
            <a:r>
              <a:rPr lang="en" sz="1600"/>
              <a:t>.</a:t>
            </a:r>
            <a:endParaRPr sz="16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900">
                <a:solidFill>
                  <a:srgbClr val="334155"/>
                </a:solidFill>
              </a:rPr>
              <a:t>Schools store student records, grades, and attendance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537000" y="461100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SQL (Structured Query Language)</a:t>
            </a:r>
            <a:endParaRPr sz="4200"/>
          </a:p>
        </p:txBody>
      </p:sp>
      <p:sp>
        <p:nvSpPr>
          <p:cNvPr id="99" name="Google Shape;99;p19"/>
          <p:cNvSpPr txBox="1"/>
          <p:nvPr/>
        </p:nvSpPr>
        <p:spPr>
          <a:xfrm>
            <a:off x="613200" y="1225269"/>
            <a:ext cx="7666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Pronounced as Sequel or “S-Q-L”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613200" y="1867450"/>
            <a:ext cx="6074700" cy="14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334155"/>
                </a:solidFill>
              </a:rPr>
              <a:t>Language we use to “communicate” to databases. </a:t>
            </a:r>
            <a:endParaRPr sz="1900">
              <a:solidFill>
                <a:srgbClr val="334155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4155"/>
                </a:solidFill>
              </a:rPr>
              <a:t>When you want to get data from a database, you write a SQL query (a question), and the database gives you an answer.</a:t>
            </a:r>
            <a:endParaRPr sz="1800">
              <a:solidFill>
                <a:srgbClr val="33415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00" y="3150250"/>
            <a:ext cx="6555624" cy="158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754875" y="3583450"/>
            <a:ext cx="62658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4155"/>
                </a:solidFill>
              </a:rPr>
              <a:t>Imagine a librarian (the database). You ask: "Show me all books by Nepali authors published after 2020." The librarian searches and gives you a list. SQL is how you ask that question to a computer!</a:t>
            </a:r>
            <a:endParaRPr sz="16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613200" y="3163961"/>
            <a:ext cx="58344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Simple Analogy / Example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25" y="26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Table, Column, and Row</a:t>
            </a:r>
            <a:endParaRPr/>
          </a:p>
        </p:txBody>
      </p:sp>
      <p:grpSp>
        <p:nvGrpSpPr>
          <p:cNvPr id="109" name="Google Shape;109;p20"/>
          <p:cNvGrpSpPr/>
          <p:nvPr/>
        </p:nvGrpSpPr>
        <p:grpSpPr>
          <a:xfrm>
            <a:off x="419401" y="3150994"/>
            <a:ext cx="8299785" cy="585528"/>
            <a:chOff x="419388" y="3845440"/>
            <a:chExt cx="8299785" cy="875752"/>
          </a:xfrm>
        </p:grpSpPr>
        <p:sp>
          <p:nvSpPr>
            <p:cNvPr id="110" name="Google Shape;110;p20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0"/>
            <p:cNvSpPr/>
            <p:nvPr/>
          </p:nvSpPr>
          <p:spPr>
            <a:xfrm>
              <a:off x="419388" y="3845440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20"/>
          <p:cNvSpPr txBox="1"/>
          <p:nvPr>
            <p:ph idx="4294967295" type="body"/>
          </p:nvPr>
        </p:nvSpPr>
        <p:spPr>
          <a:xfrm>
            <a:off x="539675" y="3168429"/>
            <a:ext cx="24225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Table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3" name="Google Shape;113;p20"/>
          <p:cNvSpPr txBox="1"/>
          <p:nvPr>
            <p:ph idx="4294967295" type="body"/>
          </p:nvPr>
        </p:nvSpPr>
        <p:spPr>
          <a:xfrm>
            <a:off x="3480449" y="3170001"/>
            <a:ext cx="51117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Collection of related data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Excel spreadsheet inside the database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14" name="Google Shape;114;p20"/>
          <p:cNvGrpSpPr/>
          <p:nvPr/>
        </p:nvGrpSpPr>
        <p:grpSpPr>
          <a:xfrm>
            <a:off x="424838" y="3801906"/>
            <a:ext cx="8294360" cy="568265"/>
            <a:chOff x="424813" y="3871259"/>
            <a:chExt cx="8294360" cy="849933"/>
          </a:xfrm>
        </p:grpSpPr>
        <p:sp>
          <p:nvSpPr>
            <p:cNvPr id="115" name="Google Shape;115;p20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0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20"/>
          <p:cNvSpPr txBox="1"/>
          <p:nvPr>
            <p:ph idx="4294967295" type="body"/>
          </p:nvPr>
        </p:nvSpPr>
        <p:spPr>
          <a:xfrm>
            <a:off x="539688" y="3802079"/>
            <a:ext cx="24225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Column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8" name="Google Shape;118;p20"/>
          <p:cNvSpPr txBox="1"/>
          <p:nvPr>
            <p:ph idx="4294967295" type="body"/>
          </p:nvPr>
        </p:nvSpPr>
        <p:spPr>
          <a:xfrm>
            <a:off x="3480462" y="3803651"/>
            <a:ext cx="51117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A specific </a:t>
            </a:r>
            <a:r>
              <a:rPr lang="en" sz="1600">
                <a:solidFill>
                  <a:schemeClr val="lt1"/>
                </a:solidFill>
              </a:rPr>
              <a:t>attribute</a:t>
            </a:r>
            <a:r>
              <a:rPr lang="en" sz="1600">
                <a:solidFill>
                  <a:schemeClr val="lt1"/>
                </a:solidFill>
              </a:rPr>
              <a:t> (name, address, zip code)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19" name="Google Shape;119;p20"/>
          <p:cNvGrpSpPr/>
          <p:nvPr/>
        </p:nvGrpSpPr>
        <p:grpSpPr>
          <a:xfrm>
            <a:off x="424826" y="4437306"/>
            <a:ext cx="8294360" cy="568265"/>
            <a:chOff x="424813" y="3871259"/>
            <a:chExt cx="8294360" cy="849933"/>
          </a:xfrm>
        </p:grpSpPr>
        <p:sp>
          <p:nvSpPr>
            <p:cNvPr id="120" name="Google Shape;120;p20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0"/>
          <p:cNvSpPr txBox="1"/>
          <p:nvPr>
            <p:ph idx="4294967295" type="body"/>
          </p:nvPr>
        </p:nvSpPr>
        <p:spPr>
          <a:xfrm>
            <a:off x="539675" y="4437479"/>
            <a:ext cx="24225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Row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3" name="Google Shape;123;p20"/>
          <p:cNvSpPr txBox="1"/>
          <p:nvPr>
            <p:ph idx="4294967295" type="body"/>
          </p:nvPr>
        </p:nvSpPr>
        <p:spPr>
          <a:xfrm>
            <a:off x="3480449" y="4439051"/>
            <a:ext cx="5111700" cy="5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One Completer record</a:t>
            </a:r>
            <a:endParaRPr sz="1600">
              <a:solidFill>
                <a:schemeClr val="lt1"/>
              </a:solidFill>
            </a:endParaRPr>
          </a:p>
        </p:txBody>
      </p:sp>
      <p:graphicFrame>
        <p:nvGraphicFramePr>
          <p:cNvPr id="124" name="Google Shape;124;p20"/>
          <p:cNvGraphicFramePr/>
          <p:nvPr/>
        </p:nvGraphicFramePr>
        <p:xfrm>
          <a:off x="528406" y="14835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{ECE3858F-1951-46F4-A0FF-0E9F7401E8DE}</a:tableStyleId>
              </a:tblPr>
              <a:tblGrid>
                <a:gridCol w="1695575"/>
                <a:gridCol w="1695575"/>
                <a:gridCol w="1695575"/>
                <a:gridCol w="1695575"/>
              </a:tblGrid>
              <a:tr h="33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Address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Zip Code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3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ABC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Kathmandu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4400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3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XYZ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Lalitpur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4444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3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PQR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Bhaktapur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4404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25" name="Google Shape;125;p20"/>
          <p:cNvSpPr txBox="1"/>
          <p:nvPr/>
        </p:nvSpPr>
        <p:spPr>
          <a:xfrm>
            <a:off x="539700" y="936188"/>
            <a:ext cx="28227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Table: Customer_Details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665500" y="2170025"/>
            <a:ext cx="6165600" cy="10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3568925" y="1990852"/>
            <a:ext cx="11091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ROW</a:t>
            </a:r>
            <a:endParaRPr b="1"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8" name="Google Shape;128;p20"/>
          <p:cNvSpPr/>
          <p:nvPr/>
        </p:nvSpPr>
        <p:spPr>
          <a:xfrm rot="5400000">
            <a:off x="6660050" y="2225425"/>
            <a:ext cx="159810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6939875" y="2023475"/>
            <a:ext cx="12723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Column</a:t>
            </a:r>
            <a:endParaRPr b="1"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537000" y="297987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Types of SQL Commands:</a:t>
            </a:r>
            <a:endParaRPr sz="4200"/>
          </a:p>
        </p:txBody>
      </p:sp>
      <p:sp>
        <p:nvSpPr>
          <p:cNvPr id="135" name="Google Shape;135;p21"/>
          <p:cNvSpPr txBox="1"/>
          <p:nvPr/>
        </p:nvSpPr>
        <p:spPr>
          <a:xfrm>
            <a:off x="537000" y="950493"/>
            <a:ext cx="7666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SQL commands are grouped into 5 categories based on their function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75" y="1432605"/>
            <a:ext cx="8883850" cy="34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645900" y="515425"/>
            <a:ext cx="7852200" cy="1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There are lots of vendors for RDBMS like SSMS, Oracle, MYSQL, Postgres and many more.</a:t>
            </a:r>
            <a:endParaRPr sz="2800"/>
          </a:p>
        </p:txBody>
      </p:sp>
      <p:sp>
        <p:nvSpPr>
          <p:cNvPr id="142" name="Google Shape;142;p22"/>
          <p:cNvSpPr txBox="1"/>
          <p:nvPr/>
        </p:nvSpPr>
        <p:spPr>
          <a:xfrm>
            <a:off x="645900" y="2994775"/>
            <a:ext cx="80448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Because of its unmatched </a:t>
            </a:r>
            <a:r>
              <a:rPr lang="en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extensibility, permissive open-source license, and ability to handle multimodal data workloads</a:t>
            </a:r>
            <a:r>
              <a:rPr lang="en" sz="2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(such as relational, document, and AI vector data) inside a single engine.</a:t>
            </a:r>
            <a:endParaRPr sz="3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645900" y="1820350"/>
            <a:ext cx="80448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But, We are using </a:t>
            </a:r>
            <a:r>
              <a:rPr lang="en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Postgresql</a:t>
            </a:r>
            <a:r>
              <a:rPr lang="en"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for the course. </a:t>
            </a:r>
            <a:endParaRPr sz="2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576200" y="210975"/>
            <a:ext cx="8200500" cy="73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Your First SQL Query</a:t>
            </a:r>
            <a:endParaRPr sz="4200"/>
          </a:p>
        </p:txBody>
      </p:sp>
      <p:sp>
        <p:nvSpPr>
          <p:cNvPr id="149" name="Google Shape;149;p23"/>
          <p:cNvSpPr txBox="1"/>
          <p:nvPr/>
        </p:nvSpPr>
        <p:spPr>
          <a:xfrm>
            <a:off x="576200" y="950475"/>
            <a:ext cx="76662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Select tells what columns you want to see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5809100" y="1432575"/>
            <a:ext cx="2967600" cy="18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Pro Tips: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b="1"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Select *  is used select all the columns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b="1"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You can do simple maths in select statement like *, /, +, -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76200" y="1519875"/>
            <a:ext cx="4667400" cy="909300"/>
          </a:xfrm>
          <a:prstGeom prst="homePlate">
            <a:avLst>
              <a:gd fmla="val 26719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741625" y="1635475"/>
            <a:ext cx="42519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Select Column_Name1, Column_Name2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From Table_Name;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600250" y="2451045"/>
            <a:ext cx="47955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Example: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643750" y="2973026"/>
            <a:ext cx="5002200" cy="21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Get Name From Customer Table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Select Name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From Customer_Details;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Get Name and City From Customer Table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	Select Name , City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	From Customer_Details;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293025" y="144450"/>
            <a:ext cx="869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SQL Keys:</a:t>
            </a:r>
            <a:endParaRPr b="1"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8775"/>
            <a:ext cx="8756799" cy="388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4"/>
          <p:cNvSpPr txBox="1"/>
          <p:nvPr/>
        </p:nvSpPr>
        <p:spPr>
          <a:xfrm>
            <a:off x="293027" y="717149"/>
            <a:ext cx="8492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Keys enforce rules about uniqueness and relationships between tables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293025" y="57437"/>
            <a:ext cx="869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Keys In SQL</a:t>
            </a:r>
            <a:r>
              <a:rPr b="1" lang="en" sz="3000"/>
              <a:t>:</a:t>
            </a:r>
            <a:endParaRPr b="1" sz="3000"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8278"/>
            <a:ext cx="5072991" cy="396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025" y="1078410"/>
            <a:ext cx="8594674" cy="401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295775" y="656798"/>
            <a:ext cx="85947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declare every key type in a real CREATE TABLE statement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293025" y="57437"/>
            <a:ext cx="869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Constraints</a:t>
            </a:r>
            <a:r>
              <a:rPr b="1" lang="en" sz="3000"/>
              <a:t>:</a:t>
            </a:r>
            <a:endParaRPr b="1" sz="3000"/>
          </a:p>
        </p:txBody>
      </p:sp>
      <p:sp>
        <p:nvSpPr>
          <p:cNvPr id="175" name="Google Shape;175;p26"/>
          <p:cNvSpPr txBox="1"/>
          <p:nvPr/>
        </p:nvSpPr>
        <p:spPr>
          <a:xfrm>
            <a:off x="415425" y="630126"/>
            <a:ext cx="8573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Used to prevent insertion of valid data, and ensures accuracy and reliability in the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293025" y="961285"/>
            <a:ext cx="8573100" cy="24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PRIMARY KEY - </a:t>
            </a:r>
            <a:r>
              <a:rPr lang="en">
                <a:solidFill>
                  <a:schemeClr val="dk1"/>
                </a:solidFill>
              </a:rPr>
              <a:t>Uniquely identifies each row in a table (a combination of a NOT NULL and UNIQUE)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FOREIGN KEY - </a:t>
            </a:r>
            <a:r>
              <a:rPr lang="en">
                <a:solidFill>
                  <a:schemeClr val="dk1"/>
                </a:solidFill>
              </a:rPr>
              <a:t>Establishes a link between data in two tables, and prevents action that will destroy the link between them.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NOT NULL - </a:t>
            </a:r>
            <a:r>
              <a:rPr lang="en">
                <a:solidFill>
                  <a:schemeClr val="dk1"/>
                </a:solidFill>
              </a:rPr>
              <a:t>Ensures that a column cannot have a NULL value.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UNIQUE - </a:t>
            </a:r>
            <a:r>
              <a:rPr lang="en">
                <a:solidFill>
                  <a:schemeClr val="dk1"/>
                </a:solidFill>
              </a:rPr>
              <a:t>Ensures that all values in a column are unique.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CHECK - </a:t>
            </a:r>
            <a:r>
              <a:rPr lang="en">
                <a:solidFill>
                  <a:schemeClr val="dk1"/>
                </a:solidFill>
              </a:rPr>
              <a:t>Ensures that the values in a column satisfies a specific condition.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DEFAULT - </a:t>
            </a:r>
            <a:r>
              <a:rPr lang="en">
                <a:solidFill>
                  <a:schemeClr val="dk1"/>
                </a:solidFill>
              </a:rPr>
              <a:t>Sets a default value for a column if no value is specified.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CREATE INDEX - </a:t>
            </a:r>
            <a:r>
              <a:rPr lang="en">
                <a:solidFill>
                  <a:schemeClr val="dk1"/>
                </a:solidFill>
              </a:rPr>
              <a:t>Creates indexes on columns to retrieve data from the database faster.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25" y="3320975"/>
            <a:ext cx="3936602" cy="170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/>
          <p:nvPr/>
        </p:nvSpPr>
        <p:spPr>
          <a:xfrm>
            <a:off x="597951" y="3674175"/>
            <a:ext cx="3416700" cy="572700"/>
          </a:xfrm>
          <a:prstGeom prst="homePlate">
            <a:avLst>
              <a:gd fmla="val 26719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41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ALTER TABLE products ADD CONSTRAINT chk_price CHECK (price &gt; 0);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587075" y="4348525"/>
            <a:ext cx="3427500" cy="572700"/>
          </a:xfrm>
          <a:prstGeom prst="homePlate">
            <a:avLst>
              <a:gd fmla="val 26719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Create table Products(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ID int not null,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Name Varchar(50)),</a:t>
            </a:r>
            <a:endParaRPr b="1" sz="1100"/>
          </a:p>
        </p:txBody>
      </p:sp>
      <p:sp>
        <p:nvSpPr>
          <p:cNvPr id="180" name="Google Shape;180;p26"/>
          <p:cNvSpPr txBox="1"/>
          <p:nvPr/>
        </p:nvSpPr>
        <p:spPr>
          <a:xfrm>
            <a:off x="534995" y="3266525"/>
            <a:ext cx="3936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Syntax to add </a:t>
            </a: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constraints</a:t>
            </a: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: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620055"/>
            <a:ext cx="3936602" cy="107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/>
          <p:nvPr/>
        </p:nvSpPr>
        <p:spPr>
          <a:xfrm>
            <a:off x="4754526" y="3973255"/>
            <a:ext cx="3416700" cy="572700"/>
          </a:xfrm>
          <a:prstGeom prst="homePlate">
            <a:avLst>
              <a:gd fmla="val 26719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415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ALTER TABLE products Drop constraint chk_price ;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4691570" y="3565605"/>
            <a:ext cx="3936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Syntax to Remove: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293025" y="57437"/>
            <a:ext cx="869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Check </a:t>
            </a:r>
            <a:r>
              <a:rPr b="1" lang="en" sz="3000"/>
              <a:t>Constraints</a:t>
            </a:r>
            <a:r>
              <a:rPr b="1" lang="en" sz="3000"/>
              <a:t>:</a:t>
            </a:r>
            <a:endParaRPr b="1" sz="3000"/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00" y="630125"/>
            <a:ext cx="8879626" cy="4402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 rejects insertion, and updates on table/ rows incase it doesn’t the rules.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227780" y="57437"/>
            <a:ext cx="869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Unique Key and Default Value</a:t>
            </a:r>
            <a:r>
              <a:rPr b="1" lang="en" sz="3000"/>
              <a:t>:</a:t>
            </a:r>
            <a:endParaRPr b="1" sz="3000"/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725" y="869519"/>
            <a:ext cx="9144000" cy="42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219660" y="526302"/>
            <a:ext cx="8634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essential column-level rules — UNIQUE prevents duplicates, DEFAULT fills blanks automatically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344325" y="101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Keys: SQL vs Cloud Data Warehouse</a:t>
            </a:r>
            <a:endParaRPr/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64200"/>
            <a:ext cx="8520601" cy="389144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1"/>
          <p:cNvSpPr txBox="1"/>
          <p:nvPr/>
        </p:nvSpPr>
        <p:spPr>
          <a:xfrm>
            <a:off x="339285" y="645934"/>
            <a:ext cx="8362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</a:rPr>
              <a:t>PostgreSQL enforces keys strictly. BigQuery and Snowflake support keys differently — optimised for parallel bulk loading at massive scale.</a:t>
            </a:r>
            <a:endParaRPr b="1"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489500" y="178325"/>
            <a:ext cx="7852200" cy="5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Appendix: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288" y="1059368"/>
            <a:ext cx="5547849" cy="406207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 txBox="1"/>
          <p:nvPr/>
        </p:nvSpPr>
        <p:spPr>
          <a:xfrm>
            <a:off x="2731605" y="591559"/>
            <a:ext cx="21531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OLTP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5091281" y="602589"/>
            <a:ext cx="21531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OLAP</a:t>
            </a:r>
            <a:endParaRPr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167220"/>
            <a:ext cx="85206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Why PK, FK, and Unique Keys Are Not Enforced in BigQuery &amp; Snowflake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73" y="979314"/>
            <a:ext cx="8520601" cy="416808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/>
        </p:nvSpPr>
        <p:spPr>
          <a:xfrm>
            <a:off x="344323" y="624125"/>
            <a:ext cx="7372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It is not a limitation — it is a deliberate design decision for speed at massive scale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/>
        </p:nvSpPr>
        <p:spPr>
          <a:xfrm>
            <a:off x="241417" y="58732"/>
            <a:ext cx="84276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rage"/>
                <a:ea typeface="Average"/>
                <a:cs typeface="Average"/>
                <a:sym typeface="Average"/>
              </a:rPr>
              <a:t>Super Key:</a:t>
            </a:r>
            <a:endParaRPr b="1" sz="30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34" name="Google Shape;2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71" y="928800"/>
            <a:ext cx="8744977" cy="420893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4"/>
          <p:cNvSpPr txBox="1"/>
          <p:nvPr/>
        </p:nvSpPr>
        <p:spPr>
          <a:xfrm>
            <a:off x="241425" y="624175"/>
            <a:ext cx="89025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Any column or group of columns that can uniquely identify every row — including combinations with extra unnecessary columns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/>
        </p:nvSpPr>
        <p:spPr>
          <a:xfrm>
            <a:off x="241417" y="58732"/>
            <a:ext cx="84276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Average"/>
                <a:ea typeface="Average"/>
                <a:cs typeface="Average"/>
                <a:sym typeface="Average"/>
              </a:rPr>
              <a:t>Candidate Key:</a:t>
            </a:r>
            <a:endParaRPr b="1" sz="3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241425" y="624175"/>
            <a:ext cx="89025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minimal super keys — the only columns eligible to become Primary Key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66" y="972324"/>
            <a:ext cx="8261663" cy="418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311700" y="134598"/>
            <a:ext cx="8520600" cy="4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Composite Key vs Surrogate Key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6"/>
          <p:cNvSpPr txBox="1"/>
          <p:nvPr/>
        </p:nvSpPr>
        <p:spPr>
          <a:xfrm>
            <a:off x="344323" y="624125"/>
            <a:ext cx="73728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Two key patterns you will use constantly in data warehousing and ELT pipelines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49" name="Google Shape;24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275" y="968525"/>
            <a:ext cx="8359150" cy="417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5236"/>
            <a:ext cx="8839198" cy="436781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7"/>
          <p:cNvSpPr txBox="1"/>
          <p:nvPr/>
        </p:nvSpPr>
        <p:spPr>
          <a:xfrm>
            <a:off x="339275" y="189200"/>
            <a:ext cx="85689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</a:rPr>
              <a:t>From the broadest concept (Super Key) down to the most practical implementation pattern (Surrogate Key)</a:t>
            </a:r>
            <a:endParaRPr b="1" sz="2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idx="4294967295" type="title"/>
          </p:nvPr>
        </p:nvSpPr>
        <p:spPr>
          <a:xfrm>
            <a:off x="181210" y="17317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Query Works or From where query starts its Process?</a:t>
            </a:r>
            <a:endParaRPr/>
          </a:p>
        </p:txBody>
      </p:sp>
      <p:pic>
        <p:nvPicPr>
          <p:cNvPr id="266" name="Google Shape;26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530" y="745875"/>
            <a:ext cx="5797246" cy="439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</a:t>
            </a:r>
            <a:r>
              <a:rPr lang="en"/>
              <a:t> Do the SQL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 txBox="1"/>
          <p:nvPr>
            <p:ph type="title"/>
          </p:nvPr>
        </p:nvSpPr>
        <p:spPr>
          <a:xfrm>
            <a:off x="268025" y="131475"/>
            <a:ext cx="745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Select</a:t>
            </a:r>
            <a:endParaRPr sz="3000"/>
          </a:p>
        </p:txBody>
      </p:sp>
      <p:pic>
        <p:nvPicPr>
          <p:cNvPr id="277" name="Google Shape;27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1650"/>
            <a:ext cx="8839200" cy="389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 txBox="1"/>
          <p:nvPr/>
        </p:nvSpPr>
        <p:spPr>
          <a:xfrm>
            <a:off x="143529" y="737260"/>
            <a:ext cx="3186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Customers Table</a:t>
            </a: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: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79" name="Google Shape;279;p41"/>
          <p:cNvSpPr txBox="1"/>
          <p:nvPr/>
        </p:nvSpPr>
        <p:spPr>
          <a:xfrm>
            <a:off x="4765229" y="737260"/>
            <a:ext cx="3186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Result</a:t>
            </a: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: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257325" y="238400"/>
            <a:ext cx="745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Filtering the Data with Where</a:t>
            </a:r>
            <a:endParaRPr sz="3000"/>
          </a:p>
        </p:txBody>
      </p:sp>
      <p:sp>
        <p:nvSpPr>
          <p:cNvPr id="285" name="Google Shape;285;p42"/>
          <p:cNvSpPr txBox="1"/>
          <p:nvPr/>
        </p:nvSpPr>
        <p:spPr>
          <a:xfrm>
            <a:off x="257325" y="742876"/>
            <a:ext cx="827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lets you filter rows based on a condition</a:t>
            </a:r>
            <a:endParaRPr/>
          </a:p>
        </p:txBody>
      </p:sp>
      <p:pic>
        <p:nvPicPr>
          <p:cNvPr id="286" name="Google Shape;2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25" y="2079281"/>
            <a:ext cx="3775376" cy="18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2"/>
          <p:cNvSpPr txBox="1"/>
          <p:nvPr/>
        </p:nvSpPr>
        <p:spPr>
          <a:xfrm>
            <a:off x="426275" y="2168306"/>
            <a:ext cx="3425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Syntax:</a:t>
            </a:r>
            <a:endParaRPr b="1" sz="21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88" name="Google Shape;288;p42"/>
          <p:cNvSpPr txBox="1"/>
          <p:nvPr/>
        </p:nvSpPr>
        <p:spPr>
          <a:xfrm>
            <a:off x="442625" y="2668531"/>
            <a:ext cx="33927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SELECT column1, column2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FROM table_name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WHERE condition;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89" name="Google Shape;289;p42"/>
          <p:cNvSpPr txBox="1"/>
          <p:nvPr/>
        </p:nvSpPr>
        <p:spPr>
          <a:xfrm>
            <a:off x="4428125" y="1115810"/>
            <a:ext cx="3425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Average"/>
                <a:ea typeface="Average"/>
                <a:cs typeface="Average"/>
                <a:sym typeface="Average"/>
              </a:rPr>
              <a:t>Example</a:t>
            </a:r>
            <a:r>
              <a:rPr b="1" lang="en" sz="2100">
                <a:latin typeface="Average"/>
                <a:ea typeface="Average"/>
                <a:cs typeface="Average"/>
                <a:sym typeface="Average"/>
              </a:rPr>
              <a:t>:</a:t>
            </a:r>
            <a:endParaRPr b="1" sz="21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90" name="Google Shape;290;p42"/>
          <p:cNvSpPr txBox="1"/>
          <p:nvPr/>
        </p:nvSpPr>
        <p:spPr>
          <a:xfrm>
            <a:off x="4515700" y="1564424"/>
            <a:ext cx="4522200" cy="35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Find customers from Kathmandu.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SELECT * 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FROM customers 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WHERE city = 'Kathmandu';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Products costing more than 1000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SELECT * 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FROM products 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WHERE price &gt; 1000;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Orders from a specific date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SELECT * 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FROM orders 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WHERE order_date = '2024-01-15';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Arial"/>
                <a:ea typeface="Arial"/>
                <a:cs typeface="Arial"/>
                <a:sym typeface="Arial"/>
              </a:rPr>
              <a:t>Operators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96" name="Google Shape;296;p43"/>
          <p:cNvSpPr txBox="1"/>
          <p:nvPr>
            <p:ph idx="2" type="body"/>
          </p:nvPr>
        </p:nvSpPr>
        <p:spPr>
          <a:xfrm>
            <a:off x="5004747" y="602450"/>
            <a:ext cx="3859800" cy="42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r>
              <a:rPr b="1"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Operator</a:t>
            </a:r>
            <a:r>
              <a:rPr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 +, -, *, /, %)</a:t>
            </a:r>
            <a:endParaRPr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Comparison Operator</a:t>
            </a:r>
            <a:r>
              <a:rPr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 =, != or &lt;&gt;, &gt;, &lt;, =&lt;, &gt;=)</a:t>
            </a:r>
            <a:endParaRPr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Logical Operator</a:t>
            </a:r>
            <a:r>
              <a:rPr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 AND, OR, IN, NOT, Between, LIKE, ISNULL, </a:t>
            </a:r>
            <a:r>
              <a:rPr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EXISTS</a:t>
            </a:r>
            <a:r>
              <a:rPr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Set Operator</a:t>
            </a:r>
            <a:r>
              <a:rPr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 UNION, UNION ALL, INTERSET, and EXCEPT or MINUS)</a:t>
            </a:r>
            <a:endParaRPr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Bitwise Operator</a:t>
            </a:r>
            <a:r>
              <a:rPr lang="en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( &amp;, |, and ^)</a:t>
            </a:r>
            <a:endParaRPr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idx="4294967295" type="title"/>
          </p:nvPr>
        </p:nvSpPr>
        <p:spPr>
          <a:xfrm>
            <a:off x="181200" y="173175"/>
            <a:ext cx="868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Operators we use:</a:t>
            </a:r>
            <a:endParaRPr/>
          </a:p>
        </p:txBody>
      </p:sp>
      <p:pic>
        <p:nvPicPr>
          <p:cNvPr id="302" name="Google Shape;3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90" y="920026"/>
            <a:ext cx="8742850" cy="400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/>
          <p:nvPr>
            <p:ph type="title"/>
          </p:nvPr>
        </p:nvSpPr>
        <p:spPr>
          <a:xfrm>
            <a:off x="311700" y="1672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Combining Conditions: AND, OR, NOT</a:t>
            </a:r>
            <a:endParaRPr sz="3000"/>
          </a:p>
        </p:txBody>
      </p:sp>
      <p:pic>
        <p:nvPicPr>
          <p:cNvPr id="308" name="Google Shape;30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39925"/>
            <a:ext cx="8767363" cy="409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type="title"/>
          </p:nvPr>
        </p:nvSpPr>
        <p:spPr>
          <a:xfrm>
            <a:off x="311700" y="762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Aggregate Function:</a:t>
            </a:r>
            <a:endParaRPr/>
          </a:p>
        </p:txBody>
      </p:sp>
      <p:sp>
        <p:nvSpPr>
          <p:cNvPr id="319" name="Google Shape;319;p47"/>
          <p:cNvSpPr txBox="1"/>
          <p:nvPr/>
        </p:nvSpPr>
        <p:spPr>
          <a:xfrm>
            <a:off x="311700" y="584836"/>
            <a:ext cx="8395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Functions that calculate a single value from multiple rows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20" name="Google Shape;32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25" y="1062925"/>
            <a:ext cx="8797926" cy="4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type="title"/>
          </p:nvPr>
        </p:nvSpPr>
        <p:spPr>
          <a:xfrm>
            <a:off x="311700" y="12975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Grouping Data By Group By Function:</a:t>
            </a:r>
            <a:endParaRPr/>
          </a:p>
        </p:txBody>
      </p:sp>
      <p:sp>
        <p:nvSpPr>
          <p:cNvPr id="326" name="Google Shape;326;p48"/>
          <p:cNvSpPr txBox="1"/>
          <p:nvPr/>
        </p:nvSpPr>
        <p:spPr>
          <a:xfrm>
            <a:off x="311700" y="766623"/>
            <a:ext cx="8395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GROUP BY groups rows that have the same values and lets you perform calculations on each group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27" name="Google Shape;32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75" y="1276875"/>
            <a:ext cx="8520599" cy="946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8"/>
          <p:cNvPicPr preferRelativeResize="0"/>
          <p:nvPr/>
        </p:nvPicPr>
        <p:blipFill rotWithShape="1">
          <a:blip r:embed="rId4">
            <a:alphaModFix/>
          </a:blip>
          <a:srcRect b="13008" l="2433" r="45353" t="17692"/>
          <a:stretch/>
        </p:blipFill>
        <p:spPr>
          <a:xfrm>
            <a:off x="449675" y="3148166"/>
            <a:ext cx="4160325" cy="9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8"/>
          <p:cNvSpPr txBox="1"/>
          <p:nvPr/>
        </p:nvSpPr>
        <p:spPr>
          <a:xfrm>
            <a:off x="449675" y="2675004"/>
            <a:ext cx="2468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Syntax:</a:t>
            </a:r>
            <a:endParaRPr b="1"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30" name="Google Shape;330;p48"/>
          <p:cNvPicPr preferRelativeResize="0"/>
          <p:nvPr/>
        </p:nvPicPr>
        <p:blipFill rotWithShape="1">
          <a:blip r:embed="rId5">
            <a:alphaModFix/>
          </a:blip>
          <a:srcRect b="0" l="0" r="56269" t="0"/>
          <a:stretch/>
        </p:blipFill>
        <p:spPr>
          <a:xfrm>
            <a:off x="4809950" y="2691366"/>
            <a:ext cx="4160326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9"/>
          <p:cNvSpPr txBox="1"/>
          <p:nvPr>
            <p:ph idx="4294967295" type="title"/>
          </p:nvPr>
        </p:nvSpPr>
        <p:spPr>
          <a:xfrm>
            <a:off x="322574" y="108808"/>
            <a:ext cx="846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the Data OR Ordering using Order By:</a:t>
            </a:r>
            <a:endParaRPr/>
          </a:p>
        </p:txBody>
      </p:sp>
      <p:sp>
        <p:nvSpPr>
          <p:cNvPr id="336" name="Google Shape;336;p49"/>
          <p:cNvSpPr txBox="1"/>
          <p:nvPr/>
        </p:nvSpPr>
        <p:spPr>
          <a:xfrm>
            <a:off x="311700" y="734975"/>
            <a:ext cx="84324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ORDER BY arranges your results in a specific order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37" name="Google Shape;33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5598"/>
            <a:ext cx="8839200" cy="38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311700" y="10836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One more Example of Group By for better understanding: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3" name="Google Shape;34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2411"/>
            <a:ext cx="3421950" cy="20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 txBox="1"/>
          <p:nvPr/>
        </p:nvSpPr>
        <p:spPr>
          <a:xfrm>
            <a:off x="306650" y="841664"/>
            <a:ext cx="2468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Table Sales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45" name="Google Shape;345;p50"/>
          <p:cNvPicPr preferRelativeResize="0"/>
          <p:nvPr/>
        </p:nvPicPr>
        <p:blipFill rotWithShape="1">
          <a:blip r:embed="rId4">
            <a:alphaModFix/>
          </a:blip>
          <a:srcRect b="0" l="0" r="32818" t="0"/>
          <a:stretch/>
        </p:blipFill>
        <p:spPr>
          <a:xfrm>
            <a:off x="311693" y="3408120"/>
            <a:ext cx="3262305" cy="167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9344" y="1537890"/>
            <a:ext cx="3583600" cy="11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0"/>
          <p:cNvSpPr txBox="1"/>
          <p:nvPr/>
        </p:nvSpPr>
        <p:spPr>
          <a:xfrm>
            <a:off x="4237070" y="1178906"/>
            <a:ext cx="2033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Output</a:t>
            </a:r>
            <a:r>
              <a:rPr b="1" lang="en" sz="1800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rPr>
              <a:t>:</a:t>
            </a:r>
            <a:endParaRPr b="1" sz="1800">
              <a:solidFill>
                <a:schemeClr val="lt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48" name="Google Shape;348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7075" y="2809900"/>
            <a:ext cx="4713100" cy="226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 txBox="1"/>
          <p:nvPr>
            <p:ph type="title"/>
          </p:nvPr>
        </p:nvSpPr>
        <p:spPr>
          <a:xfrm>
            <a:off x="460876" y="65247"/>
            <a:ext cx="8200500" cy="60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Handling Null Values</a:t>
            </a:r>
            <a:endParaRPr sz="3000"/>
          </a:p>
        </p:txBody>
      </p:sp>
      <p:sp>
        <p:nvSpPr>
          <p:cNvPr id="354" name="Google Shape;354;p51"/>
          <p:cNvSpPr txBox="1"/>
          <p:nvPr/>
        </p:nvSpPr>
        <p:spPr>
          <a:xfrm>
            <a:off x="514199" y="656776"/>
            <a:ext cx="80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NULL means "empty" or "unknown" — it's not zero, not blank 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50" y="993758"/>
            <a:ext cx="8200499" cy="4018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 txBox="1"/>
          <p:nvPr>
            <p:ph type="title"/>
          </p:nvPr>
        </p:nvSpPr>
        <p:spPr>
          <a:xfrm>
            <a:off x="174875" y="178325"/>
            <a:ext cx="3709500" cy="14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 Raw data are </a:t>
            </a:r>
            <a:r>
              <a:rPr lang="en" sz="1900"/>
              <a:t>separated</a:t>
            </a:r>
            <a:r>
              <a:rPr lang="en" sz="1900"/>
              <a:t> in multiple table </a:t>
            </a:r>
            <a:r>
              <a:rPr lang="en" sz="1900"/>
              <a:t>in order</a:t>
            </a:r>
            <a:r>
              <a:rPr lang="en" sz="1900"/>
              <a:t> to maintain structures and data make logical</a:t>
            </a:r>
            <a:endParaRPr sz="1900"/>
          </a:p>
        </p:txBody>
      </p:sp>
      <p:sp>
        <p:nvSpPr>
          <p:cNvPr id="366" name="Google Shape;366;p53"/>
          <p:cNvSpPr txBox="1"/>
          <p:nvPr/>
        </p:nvSpPr>
        <p:spPr>
          <a:xfrm>
            <a:off x="4050100" y="453675"/>
            <a:ext cx="674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Average"/>
                <a:ea typeface="Average"/>
                <a:cs typeface="Average"/>
                <a:sym typeface="Average"/>
              </a:rPr>
              <a:t>So,</a:t>
            </a:r>
            <a:endParaRPr sz="3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67" name="Google Shape;367;p53"/>
          <p:cNvSpPr txBox="1"/>
          <p:nvPr/>
        </p:nvSpPr>
        <p:spPr>
          <a:xfrm>
            <a:off x="5069550" y="276200"/>
            <a:ext cx="3958200" cy="18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There might be many tables, which must be join to extract the reports or valuable information. Here, the concept of Relationship is </a:t>
            </a: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introduce between two entities can combined it with the help of attributes.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252275" y="1646350"/>
            <a:ext cx="20445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Entity1: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69" name="Google Shape;369;p53"/>
          <p:cNvSpPr txBox="1"/>
          <p:nvPr/>
        </p:nvSpPr>
        <p:spPr>
          <a:xfrm>
            <a:off x="252275" y="2145375"/>
            <a:ext cx="20445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Entity2: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70" name="Google Shape;370;p53"/>
          <p:cNvSpPr txBox="1"/>
          <p:nvPr/>
        </p:nvSpPr>
        <p:spPr>
          <a:xfrm>
            <a:off x="1426700" y="1874725"/>
            <a:ext cx="2098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Common Attribute</a:t>
            </a:r>
            <a:endParaRPr sz="1800"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371" name="Google Shape;371;p53"/>
          <p:cNvCxnSpPr>
            <a:endCxn id="370" idx="1"/>
          </p:cNvCxnSpPr>
          <p:nvPr/>
        </p:nvCxnSpPr>
        <p:spPr>
          <a:xfrm>
            <a:off x="1198400" y="1852825"/>
            <a:ext cx="228300" cy="24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53"/>
          <p:cNvCxnSpPr>
            <a:endCxn id="370" idx="1"/>
          </p:cNvCxnSpPr>
          <p:nvPr/>
        </p:nvCxnSpPr>
        <p:spPr>
          <a:xfrm flipH="1" rot="10800000">
            <a:off x="1187600" y="2097625"/>
            <a:ext cx="239100" cy="2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53"/>
          <p:cNvSpPr txBox="1"/>
          <p:nvPr/>
        </p:nvSpPr>
        <p:spPr>
          <a:xfrm>
            <a:off x="252275" y="2890425"/>
            <a:ext cx="4297800" cy="21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While joining the tables using </a:t>
            </a: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attributes having keys</a:t>
            </a: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, relation between two or more than two tables are formed and the whole process of </a:t>
            </a: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joining</a:t>
            </a: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 and </a:t>
            </a: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maintaining the relationship in database is called </a:t>
            </a: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relational database</a:t>
            </a:r>
            <a:r>
              <a:rPr lang="en" sz="1800">
                <a:latin typeface="Average"/>
                <a:ea typeface="Average"/>
                <a:cs typeface="Average"/>
                <a:sym typeface="Average"/>
              </a:rPr>
              <a:t> i.e. </a:t>
            </a: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RDBMS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74" name="Google Shape;374;p53"/>
          <p:cNvPicPr preferRelativeResize="0"/>
          <p:nvPr/>
        </p:nvPicPr>
        <p:blipFill rotWithShape="1">
          <a:blip r:embed="rId3">
            <a:alphaModFix/>
          </a:blip>
          <a:srcRect b="4931" l="2371" r="3908" t="6070"/>
          <a:stretch/>
        </p:blipFill>
        <p:spPr>
          <a:xfrm>
            <a:off x="5079045" y="2070443"/>
            <a:ext cx="3902323" cy="299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"/>
          <p:cNvSpPr txBox="1"/>
          <p:nvPr>
            <p:ph type="title"/>
          </p:nvPr>
        </p:nvSpPr>
        <p:spPr>
          <a:xfrm>
            <a:off x="734625" y="2191200"/>
            <a:ext cx="3193200" cy="7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</a:t>
            </a:r>
            <a:endParaRPr/>
          </a:p>
        </p:txBody>
      </p:sp>
      <p:pic>
        <p:nvPicPr>
          <p:cNvPr id="380" name="Google Shape;38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8976" y="0"/>
            <a:ext cx="646142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1816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8176" y="0"/>
            <a:ext cx="5025825" cy="327485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55"/>
          <p:cNvSpPr txBox="1"/>
          <p:nvPr/>
        </p:nvSpPr>
        <p:spPr>
          <a:xfrm>
            <a:off x="4417100" y="3571100"/>
            <a:ext cx="44583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SQL Cheat Sheet</a:t>
            </a:r>
            <a:endParaRPr sz="3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"/>
          <p:cNvSpPr txBox="1"/>
          <p:nvPr>
            <p:ph idx="4294967295" type="title"/>
          </p:nvPr>
        </p:nvSpPr>
        <p:spPr>
          <a:xfrm>
            <a:off x="311700" y="118778"/>
            <a:ext cx="846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and Its Type:</a:t>
            </a:r>
            <a:endParaRPr/>
          </a:p>
        </p:txBody>
      </p:sp>
      <p:sp>
        <p:nvSpPr>
          <p:cNvPr id="393" name="Google Shape;393;p56"/>
          <p:cNvSpPr txBox="1"/>
          <p:nvPr>
            <p:ph idx="4294967295" type="body"/>
          </p:nvPr>
        </p:nvSpPr>
        <p:spPr>
          <a:xfrm>
            <a:off x="337050" y="691469"/>
            <a:ext cx="84699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combine rows from two or more tables horizontally based on a related column between them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 txBox="1"/>
          <p:nvPr/>
        </p:nvSpPr>
        <p:spPr>
          <a:xfrm>
            <a:off x="337050" y="1026515"/>
            <a:ext cx="846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Types of Joins:</a:t>
            </a:r>
            <a:endParaRPr b="1" sz="18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395" name="Google Shape;395;p56"/>
          <p:cNvSpPr txBox="1"/>
          <p:nvPr/>
        </p:nvSpPr>
        <p:spPr>
          <a:xfrm>
            <a:off x="502400" y="1548475"/>
            <a:ext cx="4069500" cy="3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Primary/ Basic Joins: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lphaLcPeriod"/>
            </a:pPr>
            <a:r>
              <a:rPr lang="en" sz="1800">
                <a:solidFill>
                  <a:schemeClr val="accent3"/>
                </a:solidFill>
              </a:rPr>
              <a:t>Left Join:</a:t>
            </a:r>
            <a:endParaRPr sz="18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lphaLcPeriod"/>
            </a:pPr>
            <a:r>
              <a:rPr lang="en" sz="1800">
                <a:solidFill>
                  <a:schemeClr val="accent3"/>
                </a:solidFill>
              </a:rPr>
              <a:t>Right Join:</a:t>
            </a:r>
            <a:endParaRPr sz="18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lphaLcPeriod"/>
            </a:pPr>
            <a:r>
              <a:rPr lang="en" sz="1800">
                <a:solidFill>
                  <a:schemeClr val="accent3"/>
                </a:solidFill>
              </a:rPr>
              <a:t>Inner Join:</a:t>
            </a:r>
            <a:endParaRPr sz="18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lphaLcPeriod"/>
            </a:pPr>
            <a:r>
              <a:rPr lang="en" sz="1800">
                <a:solidFill>
                  <a:schemeClr val="accent3"/>
                </a:solidFill>
              </a:rPr>
              <a:t>Full Join: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396" name="Google Shape;396;p56"/>
          <p:cNvSpPr txBox="1"/>
          <p:nvPr/>
        </p:nvSpPr>
        <p:spPr>
          <a:xfrm>
            <a:off x="4572000" y="1548475"/>
            <a:ext cx="4542000" cy="3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Secondary Joins:</a:t>
            </a:r>
            <a:endParaRPr b="1"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Cross Join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Self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Join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Natural Join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Equi Join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Full Outer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Full Inner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Left Outer Join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AutoNum type="alphaLcPeriod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Right Outer Join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 txBox="1"/>
          <p:nvPr>
            <p:ph type="title"/>
          </p:nvPr>
        </p:nvSpPr>
        <p:spPr>
          <a:xfrm>
            <a:off x="266800" y="9215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Real database have multiple tables. JOIN lets you combine them.</a:t>
            </a:r>
            <a:endParaRPr sz="2600"/>
          </a:p>
        </p:txBody>
      </p:sp>
      <p:sp>
        <p:nvSpPr>
          <p:cNvPr id="402" name="Google Shape;402;p57"/>
          <p:cNvSpPr txBox="1"/>
          <p:nvPr/>
        </p:nvSpPr>
        <p:spPr>
          <a:xfrm>
            <a:off x="365725" y="742129"/>
            <a:ext cx="8357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Why multiple tables?</a:t>
            </a:r>
            <a:endParaRPr b="1" sz="21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Imagine an e-commerce database: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AutoNum type="alphaLcPeriod"/>
            </a:pPr>
            <a:r>
              <a:rPr lang="en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Customer Table: Cust_id, Customer_Name. Email, and City.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rage"/>
              <a:buAutoNum type="alphaLcPeriod"/>
            </a:pPr>
            <a:r>
              <a:rPr lang="en" sz="16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Order Table: Order_id, Cust_id, Product, Quantity, Amount, Order_date.</a:t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11650" y="2292650"/>
            <a:ext cx="1871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D966"/>
                </a:highlight>
                <a:latin typeface="Average"/>
                <a:ea typeface="Average"/>
                <a:cs typeface="Average"/>
                <a:sym typeface="Average"/>
              </a:rPr>
              <a:t>Cust_id</a:t>
            </a:r>
            <a:endParaRPr sz="1800">
              <a:solidFill>
                <a:schemeClr val="dk1"/>
              </a:solidFill>
              <a:highlight>
                <a:srgbClr val="FFD966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D966"/>
                </a:highlight>
                <a:latin typeface="Average"/>
                <a:ea typeface="Average"/>
                <a:cs typeface="Average"/>
                <a:sym typeface="Average"/>
              </a:rPr>
              <a:t>Customer_Name</a:t>
            </a:r>
            <a:endParaRPr sz="1800">
              <a:solidFill>
                <a:schemeClr val="dk1"/>
              </a:solidFill>
              <a:highlight>
                <a:srgbClr val="FFD966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D966"/>
                </a:highlight>
                <a:latin typeface="Average"/>
                <a:ea typeface="Average"/>
                <a:cs typeface="Average"/>
                <a:sym typeface="Average"/>
              </a:rPr>
              <a:t>Email</a:t>
            </a:r>
            <a:endParaRPr sz="1800">
              <a:solidFill>
                <a:schemeClr val="dk1"/>
              </a:solidFill>
              <a:highlight>
                <a:srgbClr val="FFD966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D966"/>
                </a:highlight>
                <a:latin typeface="Average"/>
                <a:ea typeface="Average"/>
                <a:cs typeface="Average"/>
                <a:sym typeface="Average"/>
              </a:rPr>
              <a:t>City</a:t>
            </a:r>
            <a:endParaRPr sz="1800">
              <a:solidFill>
                <a:schemeClr val="dk1"/>
              </a:solidFill>
              <a:highlight>
                <a:srgbClr val="FFD966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04" name="Google Shape;404;p57"/>
          <p:cNvSpPr txBox="1"/>
          <p:nvPr/>
        </p:nvSpPr>
        <p:spPr>
          <a:xfrm>
            <a:off x="6916000" y="2241872"/>
            <a:ext cx="1871400" cy="17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6FA8DC"/>
                </a:highlight>
                <a:latin typeface="Average"/>
                <a:ea typeface="Average"/>
                <a:cs typeface="Average"/>
                <a:sym typeface="Average"/>
              </a:rPr>
              <a:t>Order_id</a:t>
            </a:r>
            <a:endParaRPr sz="1800">
              <a:solidFill>
                <a:schemeClr val="dk1"/>
              </a:solidFill>
              <a:highlight>
                <a:srgbClr val="6FA8DC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6FA8DC"/>
                </a:highlight>
                <a:latin typeface="Average"/>
                <a:ea typeface="Average"/>
                <a:cs typeface="Average"/>
                <a:sym typeface="Average"/>
              </a:rPr>
              <a:t>Cust_id</a:t>
            </a:r>
            <a:endParaRPr sz="1800">
              <a:solidFill>
                <a:schemeClr val="dk1"/>
              </a:solidFill>
              <a:highlight>
                <a:srgbClr val="6FA8DC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6FA8DC"/>
                </a:highlight>
                <a:latin typeface="Average"/>
                <a:ea typeface="Average"/>
                <a:cs typeface="Average"/>
                <a:sym typeface="Average"/>
              </a:rPr>
              <a:t>Product</a:t>
            </a:r>
            <a:endParaRPr sz="1800">
              <a:solidFill>
                <a:schemeClr val="dk1"/>
              </a:solidFill>
              <a:highlight>
                <a:srgbClr val="6FA8DC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6FA8DC"/>
                </a:highlight>
                <a:latin typeface="Average"/>
                <a:ea typeface="Average"/>
                <a:cs typeface="Average"/>
                <a:sym typeface="Average"/>
              </a:rPr>
              <a:t>Quantity</a:t>
            </a:r>
            <a:endParaRPr sz="1800">
              <a:solidFill>
                <a:schemeClr val="dk1"/>
              </a:solidFill>
              <a:highlight>
                <a:srgbClr val="6FA8DC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6FA8DC"/>
                </a:highlight>
                <a:latin typeface="Average"/>
                <a:ea typeface="Average"/>
                <a:cs typeface="Average"/>
                <a:sym typeface="Average"/>
              </a:rPr>
              <a:t>Amount</a:t>
            </a:r>
            <a:endParaRPr sz="1800">
              <a:solidFill>
                <a:schemeClr val="dk1"/>
              </a:solidFill>
              <a:highlight>
                <a:srgbClr val="6FA8DC"/>
              </a:highlight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6FA8DC"/>
                </a:highlight>
                <a:latin typeface="Average"/>
                <a:ea typeface="Average"/>
                <a:cs typeface="Average"/>
                <a:sym typeface="Average"/>
              </a:rPr>
              <a:t>Order_date</a:t>
            </a:r>
            <a:endParaRPr sz="1800">
              <a:solidFill>
                <a:schemeClr val="dk1"/>
              </a:solidFill>
              <a:highlight>
                <a:srgbClr val="6FA8DC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405" name="Google Shape;405;p57"/>
          <p:cNvCxnSpPr/>
          <p:nvPr/>
        </p:nvCxnSpPr>
        <p:spPr>
          <a:xfrm>
            <a:off x="1520600" y="2517225"/>
            <a:ext cx="5432100" cy="2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6" name="Google Shape;406;p57"/>
          <p:cNvSpPr txBox="1"/>
          <p:nvPr/>
        </p:nvSpPr>
        <p:spPr>
          <a:xfrm>
            <a:off x="2483000" y="2442350"/>
            <a:ext cx="40422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3C78D8"/>
                </a:highlight>
                <a:latin typeface="Average"/>
                <a:ea typeface="Average"/>
                <a:cs typeface="Average"/>
                <a:sym typeface="Average"/>
              </a:rPr>
              <a:t>The cust_id connects them, to see what customer ordered so we join them</a:t>
            </a:r>
            <a:endParaRPr>
              <a:solidFill>
                <a:schemeClr val="dk1"/>
              </a:solidFill>
              <a:highlight>
                <a:srgbClr val="3C78D8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8"/>
          <p:cNvSpPr txBox="1"/>
          <p:nvPr>
            <p:ph type="title"/>
          </p:nvPr>
        </p:nvSpPr>
        <p:spPr>
          <a:xfrm>
            <a:off x="471750" y="167795"/>
            <a:ext cx="82005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Inner Join</a:t>
            </a:r>
            <a:endParaRPr b="1" sz="4000"/>
          </a:p>
        </p:txBody>
      </p:sp>
      <p:sp>
        <p:nvSpPr>
          <p:cNvPr id="412" name="Google Shape;412;p58"/>
          <p:cNvSpPr txBox="1"/>
          <p:nvPr/>
        </p:nvSpPr>
        <p:spPr>
          <a:xfrm>
            <a:off x="471750" y="644879"/>
            <a:ext cx="81339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Returns only rows that have matching values in BOTH tables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13" name="Google Shape;413;p58"/>
          <p:cNvPicPr preferRelativeResize="0"/>
          <p:nvPr/>
        </p:nvPicPr>
        <p:blipFill rotWithShape="1">
          <a:blip r:embed="rId3">
            <a:alphaModFix/>
          </a:blip>
          <a:srcRect b="0" l="2378" r="39621" t="0"/>
          <a:stretch/>
        </p:blipFill>
        <p:spPr>
          <a:xfrm>
            <a:off x="471750" y="1471424"/>
            <a:ext cx="5524099" cy="136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8"/>
          <p:cNvSpPr txBox="1"/>
          <p:nvPr/>
        </p:nvSpPr>
        <p:spPr>
          <a:xfrm>
            <a:off x="471750" y="1112575"/>
            <a:ext cx="3762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Syntax: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15" name="Google Shape;415;p58"/>
          <p:cNvPicPr preferRelativeResize="0"/>
          <p:nvPr/>
        </p:nvPicPr>
        <p:blipFill rotWithShape="1">
          <a:blip r:embed="rId4">
            <a:alphaModFix/>
          </a:blip>
          <a:srcRect b="10460" l="0" r="30348" t="12794"/>
          <a:stretch/>
        </p:blipFill>
        <p:spPr>
          <a:xfrm>
            <a:off x="469776" y="3331762"/>
            <a:ext cx="7116325" cy="1043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8"/>
          <p:cNvSpPr txBox="1"/>
          <p:nvPr/>
        </p:nvSpPr>
        <p:spPr>
          <a:xfrm>
            <a:off x="480650" y="2875150"/>
            <a:ext cx="55893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Example: </a:t>
            </a:r>
            <a:r>
              <a:rPr b="1" lang="en" sz="1500">
                <a:solidFill>
                  <a:srgbClr val="1E293B"/>
                </a:solidFill>
              </a:rPr>
              <a:t>Get customer names with their orders</a:t>
            </a:r>
            <a:r>
              <a:rPr lang="en" sz="1300"/>
              <a:t> 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17" name="Google Shape;417;p58"/>
          <p:cNvSpPr txBox="1"/>
          <p:nvPr/>
        </p:nvSpPr>
        <p:spPr>
          <a:xfrm>
            <a:off x="6135225" y="1102655"/>
            <a:ext cx="2131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Visual Diagram: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18" name="Google Shape;418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9595" y="1514801"/>
            <a:ext cx="2816425" cy="18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9"/>
          <p:cNvSpPr txBox="1"/>
          <p:nvPr>
            <p:ph type="title"/>
          </p:nvPr>
        </p:nvSpPr>
        <p:spPr>
          <a:xfrm>
            <a:off x="471750" y="167795"/>
            <a:ext cx="82005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1" lang="en" sz="3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Join</a:t>
            </a:r>
            <a:endParaRPr b="1" sz="4000"/>
          </a:p>
        </p:txBody>
      </p:sp>
      <p:sp>
        <p:nvSpPr>
          <p:cNvPr id="424" name="Google Shape;424;p59"/>
          <p:cNvSpPr txBox="1"/>
          <p:nvPr/>
        </p:nvSpPr>
        <p:spPr>
          <a:xfrm>
            <a:off x="471750" y="644879"/>
            <a:ext cx="81339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Returns ALL rows from the left table + matching rows from right table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25" name="Google Shape;425;p59"/>
          <p:cNvSpPr txBox="1"/>
          <p:nvPr/>
        </p:nvSpPr>
        <p:spPr>
          <a:xfrm>
            <a:off x="471750" y="1112575"/>
            <a:ext cx="3762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Syntax: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26" name="Google Shape;426;p59"/>
          <p:cNvSpPr txBox="1"/>
          <p:nvPr/>
        </p:nvSpPr>
        <p:spPr>
          <a:xfrm>
            <a:off x="480650" y="2701155"/>
            <a:ext cx="3186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Example: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27" name="Google Shape;42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249" y="1493337"/>
            <a:ext cx="2843351" cy="1895568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9"/>
          <p:cNvSpPr txBox="1"/>
          <p:nvPr/>
        </p:nvSpPr>
        <p:spPr>
          <a:xfrm>
            <a:off x="6135225" y="1102655"/>
            <a:ext cx="2131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Visual Diagram: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29" name="Google Shape;429;p59"/>
          <p:cNvPicPr preferRelativeResize="0"/>
          <p:nvPr/>
        </p:nvPicPr>
        <p:blipFill rotWithShape="1">
          <a:blip r:embed="rId4">
            <a:alphaModFix/>
          </a:blip>
          <a:srcRect b="4404" l="2496" r="40657" t="15385"/>
          <a:stretch/>
        </p:blipFill>
        <p:spPr>
          <a:xfrm>
            <a:off x="480650" y="1559348"/>
            <a:ext cx="5340749" cy="10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9"/>
          <p:cNvPicPr preferRelativeResize="0"/>
          <p:nvPr/>
        </p:nvPicPr>
        <p:blipFill rotWithShape="1">
          <a:blip r:embed="rId5">
            <a:alphaModFix/>
          </a:blip>
          <a:srcRect b="0" l="1535" r="33407" t="0"/>
          <a:stretch/>
        </p:blipFill>
        <p:spPr>
          <a:xfrm>
            <a:off x="471750" y="3114254"/>
            <a:ext cx="5676500" cy="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59"/>
          <p:cNvPicPr preferRelativeResize="0"/>
          <p:nvPr/>
        </p:nvPicPr>
        <p:blipFill rotWithShape="1">
          <a:blip r:embed="rId6">
            <a:alphaModFix/>
          </a:blip>
          <a:srcRect b="0" l="889" r="4512" t="0"/>
          <a:stretch/>
        </p:blipFill>
        <p:spPr>
          <a:xfrm>
            <a:off x="458875" y="4052598"/>
            <a:ext cx="8133901" cy="105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0"/>
          <p:cNvSpPr txBox="1"/>
          <p:nvPr>
            <p:ph type="title"/>
          </p:nvPr>
        </p:nvSpPr>
        <p:spPr>
          <a:xfrm>
            <a:off x="471750" y="167795"/>
            <a:ext cx="82005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1" lang="en" sz="3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Join</a:t>
            </a:r>
            <a:endParaRPr b="1" sz="4000"/>
          </a:p>
        </p:txBody>
      </p:sp>
      <p:sp>
        <p:nvSpPr>
          <p:cNvPr id="437" name="Google Shape;437;p60"/>
          <p:cNvSpPr txBox="1"/>
          <p:nvPr/>
        </p:nvSpPr>
        <p:spPr>
          <a:xfrm>
            <a:off x="471750" y="644879"/>
            <a:ext cx="81339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Returns ALL rows from right table + matching from left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38" name="Google Shape;438;p60"/>
          <p:cNvSpPr txBox="1"/>
          <p:nvPr/>
        </p:nvSpPr>
        <p:spPr>
          <a:xfrm>
            <a:off x="471750" y="1112575"/>
            <a:ext cx="3762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Syntax: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39" name="Google Shape;439;p60"/>
          <p:cNvSpPr txBox="1"/>
          <p:nvPr/>
        </p:nvSpPr>
        <p:spPr>
          <a:xfrm>
            <a:off x="480650" y="3092627"/>
            <a:ext cx="3186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Example: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40" name="Google Shape;440;p60"/>
          <p:cNvSpPr txBox="1"/>
          <p:nvPr/>
        </p:nvSpPr>
        <p:spPr>
          <a:xfrm>
            <a:off x="6135225" y="1102655"/>
            <a:ext cx="2131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Visual Diagram: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41" name="Google Shape;441;p60"/>
          <p:cNvPicPr preferRelativeResize="0"/>
          <p:nvPr/>
        </p:nvPicPr>
        <p:blipFill rotWithShape="1">
          <a:blip r:embed="rId3">
            <a:alphaModFix/>
          </a:blip>
          <a:srcRect b="0" l="1684" r="31493" t="0"/>
          <a:stretch/>
        </p:blipFill>
        <p:spPr>
          <a:xfrm>
            <a:off x="471750" y="3505721"/>
            <a:ext cx="6377349" cy="8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0"/>
          <p:cNvPicPr preferRelativeResize="0"/>
          <p:nvPr/>
        </p:nvPicPr>
        <p:blipFill rotWithShape="1">
          <a:blip r:embed="rId4">
            <a:alphaModFix/>
          </a:blip>
          <a:srcRect b="6473" l="2522" r="39887" t="16746"/>
          <a:stretch/>
        </p:blipFill>
        <p:spPr>
          <a:xfrm>
            <a:off x="471750" y="1515750"/>
            <a:ext cx="5600451" cy="10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7900" y="1525675"/>
            <a:ext cx="2799125" cy="18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1"/>
          <p:cNvSpPr txBox="1"/>
          <p:nvPr>
            <p:ph type="title"/>
          </p:nvPr>
        </p:nvSpPr>
        <p:spPr>
          <a:xfrm>
            <a:off x="471750" y="167795"/>
            <a:ext cx="82005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Full </a:t>
            </a:r>
            <a:r>
              <a:rPr b="1" lang="en" sz="3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 b="1" sz="4000"/>
          </a:p>
        </p:txBody>
      </p:sp>
      <p:sp>
        <p:nvSpPr>
          <p:cNvPr id="449" name="Google Shape;449;p61"/>
          <p:cNvSpPr txBox="1"/>
          <p:nvPr/>
        </p:nvSpPr>
        <p:spPr>
          <a:xfrm>
            <a:off x="471750" y="644879"/>
            <a:ext cx="81339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Returns ALL rows from both tables (matching or not)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50" name="Google Shape;450;p61"/>
          <p:cNvSpPr txBox="1"/>
          <p:nvPr/>
        </p:nvSpPr>
        <p:spPr>
          <a:xfrm>
            <a:off x="471750" y="1112575"/>
            <a:ext cx="3762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Syntax: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51" name="Google Shape;451;p61"/>
          <p:cNvSpPr txBox="1"/>
          <p:nvPr/>
        </p:nvSpPr>
        <p:spPr>
          <a:xfrm>
            <a:off x="480650" y="3092627"/>
            <a:ext cx="31860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Example: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452" name="Google Shape;452;p61"/>
          <p:cNvSpPr txBox="1"/>
          <p:nvPr/>
        </p:nvSpPr>
        <p:spPr>
          <a:xfrm>
            <a:off x="6135225" y="1102655"/>
            <a:ext cx="2131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Average"/>
                <a:ea typeface="Average"/>
                <a:cs typeface="Average"/>
                <a:sym typeface="Average"/>
              </a:rPr>
              <a:t>Visual Diagram:</a:t>
            </a:r>
            <a:endParaRPr b="1" sz="1800"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53" name="Google Shape;453;p61"/>
          <p:cNvPicPr preferRelativeResize="0"/>
          <p:nvPr/>
        </p:nvPicPr>
        <p:blipFill rotWithShape="1">
          <a:blip r:embed="rId3">
            <a:alphaModFix/>
          </a:blip>
          <a:srcRect b="8369" l="2525" r="41108" t="16505"/>
          <a:stretch/>
        </p:blipFill>
        <p:spPr>
          <a:xfrm>
            <a:off x="471750" y="1525150"/>
            <a:ext cx="5511250" cy="10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4875" y="1515750"/>
            <a:ext cx="2816400" cy="18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61"/>
          <p:cNvPicPr preferRelativeResize="0"/>
          <p:nvPr/>
        </p:nvPicPr>
        <p:blipFill rotWithShape="1">
          <a:blip r:embed="rId5">
            <a:alphaModFix/>
          </a:blip>
          <a:srcRect b="8661" l="1619" r="32314" t="8296"/>
          <a:stretch/>
        </p:blipFill>
        <p:spPr>
          <a:xfrm>
            <a:off x="480650" y="3505725"/>
            <a:ext cx="6796376" cy="9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2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3"/>
          <p:cNvSpPr txBox="1"/>
          <p:nvPr>
            <p:ph idx="4294967295" type="title"/>
          </p:nvPr>
        </p:nvSpPr>
        <p:spPr>
          <a:xfrm>
            <a:off x="311700" y="445025"/>
            <a:ext cx="8469900" cy="431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JOIN </a:t>
            </a:r>
            <a:endParaRPr sz="4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Summary</a:t>
            </a:r>
            <a:endParaRPr sz="4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64"/>
          <p:cNvPicPr preferRelativeResize="0"/>
          <p:nvPr/>
        </p:nvPicPr>
        <p:blipFill rotWithShape="1">
          <a:blip r:embed="rId3">
            <a:alphaModFix/>
          </a:blip>
          <a:srcRect b="0" l="0" r="48307" t="0"/>
          <a:stretch/>
        </p:blipFill>
        <p:spPr>
          <a:xfrm>
            <a:off x="188688" y="1044075"/>
            <a:ext cx="8766625" cy="27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5"/>
          <p:cNvSpPr txBox="1"/>
          <p:nvPr/>
        </p:nvSpPr>
        <p:spPr>
          <a:xfrm>
            <a:off x="458900" y="1484400"/>
            <a:ext cx="3381900" cy="21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Query In </a:t>
            </a:r>
            <a:endParaRPr sz="4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Order</a:t>
            </a:r>
            <a:endParaRPr sz="4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476" name="Google Shape;476;p65"/>
          <p:cNvPicPr preferRelativeResize="0"/>
          <p:nvPr/>
        </p:nvPicPr>
        <p:blipFill rotWithShape="1">
          <a:blip r:embed="rId3">
            <a:alphaModFix/>
          </a:blip>
          <a:srcRect b="0" l="0" r="10810" t="0"/>
          <a:stretch/>
        </p:blipFill>
        <p:spPr>
          <a:xfrm>
            <a:off x="4558650" y="598208"/>
            <a:ext cx="4585350" cy="3898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6"/>
          <p:cNvSpPr txBox="1"/>
          <p:nvPr>
            <p:ph type="title"/>
          </p:nvPr>
        </p:nvSpPr>
        <p:spPr>
          <a:xfrm>
            <a:off x="279100" y="140550"/>
            <a:ext cx="8469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Putting Everything we have studied together:</a:t>
            </a:r>
            <a:endParaRPr sz="3000"/>
          </a:p>
        </p:txBody>
      </p:sp>
      <p:pic>
        <p:nvPicPr>
          <p:cNvPr id="482" name="Google Shape;482;p66"/>
          <p:cNvPicPr preferRelativeResize="0"/>
          <p:nvPr/>
        </p:nvPicPr>
        <p:blipFill rotWithShape="1">
          <a:blip r:embed="rId3">
            <a:alphaModFix/>
          </a:blip>
          <a:srcRect b="3037" l="2360" r="43387" t="6309"/>
          <a:stretch/>
        </p:blipFill>
        <p:spPr>
          <a:xfrm>
            <a:off x="442218" y="1495200"/>
            <a:ext cx="6095351" cy="35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66"/>
          <p:cNvSpPr txBox="1"/>
          <p:nvPr/>
        </p:nvSpPr>
        <p:spPr>
          <a:xfrm>
            <a:off x="327550" y="767175"/>
            <a:ext cx="83730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Calculate the total number of orders and total sales for each month. The output should show the year, month, total orders, and total sales, sorted by year and month</a:t>
            </a:r>
            <a:r>
              <a:rPr b="1" lang="en" sz="1300"/>
              <a:t> </a:t>
            </a:r>
            <a:endParaRPr b="1"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7"/>
          <p:cNvSpPr txBox="1"/>
          <p:nvPr>
            <p:ph type="title"/>
          </p:nvPr>
        </p:nvSpPr>
        <p:spPr>
          <a:xfrm>
            <a:off x="279100" y="140550"/>
            <a:ext cx="8469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Key Takeaways:</a:t>
            </a:r>
            <a:endParaRPr sz="3000"/>
          </a:p>
        </p:txBody>
      </p:sp>
      <p:pic>
        <p:nvPicPr>
          <p:cNvPr id="489" name="Google Shape;48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29" y="658879"/>
            <a:ext cx="8735499" cy="43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9"/>
          <p:cNvSpPr txBox="1"/>
          <p:nvPr/>
        </p:nvSpPr>
        <p:spPr>
          <a:xfrm>
            <a:off x="4992585" y="1374505"/>
            <a:ext cx="4325400" cy="3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Basic requirement for tomorrow’s Practical: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verage"/>
              <a:buAutoNum type="alphaLcPeriod"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Laptop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verage"/>
              <a:buAutoNum type="alphaLcPeriod"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SQL Knowledge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verage"/>
              <a:buAutoNum type="alphaLcPeriod"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Postgres SQL Installation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verage"/>
              <a:buAutoNum type="alphaLcPeriod"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Basic Knowledge of SQL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verage"/>
              <a:buAutoNum type="alphaLcPeriod"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Study the Slide Well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00" name="Google Shape;500;p69"/>
          <p:cNvSpPr txBox="1"/>
          <p:nvPr/>
        </p:nvSpPr>
        <p:spPr>
          <a:xfrm>
            <a:off x="317525" y="1037400"/>
            <a:ext cx="4056000" cy="3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See You Tomorrow at Practical</a:t>
            </a:r>
            <a:endParaRPr sz="4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0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Bye!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A Nice Day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