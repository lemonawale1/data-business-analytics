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Average"/>
      <p:regular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E5F7B7-CB06-41BA-8655-36907831E855}">
  <a:tblStyle styleId="{46E5F7B7-CB06-41BA-8655-36907831E85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7766EA4-1180-4B5A-BCB3-3A8511ABA6F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Oswald-regular.fntdata"/><Relationship Id="rId27" Type="http://schemas.openxmlformats.org/officeDocument/2006/relationships/font" Target="fonts/Averag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swa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03ae8e2ea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03ae8e2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03ae8e2ea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03ae8e2e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03ae8e2ea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03ae8e2e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03ae8e2ea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03ae8e2e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03ae8e2ea_0_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03ae8e2e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2e63a34b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2e63a34b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c6f980f91_0_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c6f980f9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02ebbaca4_0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02ebbaca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c6f980f91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c6f980f9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c6f980f91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c6f980f9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2e63a34b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2e63a34b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c6f980f91_0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c6f980f9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c6f980f91_0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c6f980f9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2e63a34b2_0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f2e63a34b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2e63a34b2_0_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f2e63a34b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2e63a34b2_0_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f2e63a34b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2e63a34b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2e63a34b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and ETL Process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- 2 ETL Basics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Sourcing (Where does data come from?)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Cleaning and Transforming in EXCEL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ETL PROCESS ( Extract, Transform, and Load)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ETL vs ELT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Warehousing Concept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Quality and Validation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Python Basics with Pandas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265500" y="1733850"/>
            <a:ext cx="4045200" cy="16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Where does Data Come From?</a:t>
            </a:r>
            <a:endParaRPr sz="2500"/>
          </a:p>
        </p:txBody>
      </p:sp>
      <p:sp>
        <p:nvSpPr>
          <p:cNvPr id="72" name="Google Shape;72;p15"/>
          <p:cNvSpPr txBox="1"/>
          <p:nvPr>
            <p:ph idx="2" type="body"/>
          </p:nvPr>
        </p:nvSpPr>
        <p:spPr>
          <a:xfrm>
            <a:off x="4731300" y="250900"/>
            <a:ext cx="4207200" cy="42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Understanding your data sources is the first step in any analytics project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Sources:</a:t>
            </a:r>
            <a:endParaRPr/>
          </a:p>
        </p:txBody>
      </p:sp>
      <p:grpSp>
        <p:nvGrpSpPr>
          <p:cNvPr id="78" name="Google Shape;78;p16"/>
          <p:cNvGrpSpPr/>
          <p:nvPr/>
        </p:nvGrpSpPr>
        <p:grpSpPr>
          <a:xfrm>
            <a:off x="424825" y="1253930"/>
            <a:ext cx="8294371" cy="572663"/>
            <a:chOff x="424813" y="1177875"/>
            <a:chExt cx="8294371" cy="849900"/>
          </a:xfrm>
        </p:grpSpPr>
        <p:sp>
          <p:nvSpPr>
            <p:cNvPr id="79" name="Google Shape;79;p16"/>
            <p:cNvSpPr/>
            <p:nvPr/>
          </p:nvSpPr>
          <p:spPr>
            <a:xfrm>
              <a:off x="2927684" y="1177875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6"/>
            <p:cNvSpPr/>
            <p:nvPr/>
          </p:nvSpPr>
          <p:spPr>
            <a:xfrm>
              <a:off x="424813" y="117787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6"/>
          <p:cNvSpPr txBox="1"/>
          <p:nvPr>
            <p:ph idx="4294967295" type="body"/>
          </p:nvPr>
        </p:nvSpPr>
        <p:spPr>
          <a:xfrm>
            <a:off x="539674" y="1254135"/>
            <a:ext cx="2422500" cy="57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Surveys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82" name="Google Shape;82;p16"/>
          <p:cNvSpPr txBox="1"/>
          <p:nvPr>
            <p:ph idx="4294967295" type="body"/>
          </p:nvPr>
        </p:nvSpPr>
        <p:spPr>
          <a:xfrm>
            <a:off x="3480445" y="1254105"/>
            <a:ext cx="5111700" cy="57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899" lvl="0" marL="457199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Google forms, ServeyMoney, Typeform</a:t>
            </a:r>
            <a:endParaRPr sz="1800">
              <a:solidFill>
                <a:schemeClr val="lt1"/>
              </a:solidFill>
            </a:endParaRPr>
          </a:p>
        </p:txBody>
      </p:sp>
      <p:grpSp>
        <p:nvGrpSpPr>
          <p:cNvPr id="83" name="Google Shape;83;p16"/>
          <p:cNvGrpSpPr/>
          <p:nvPr/>
        </p:nvGrpSpPr>
        <p:grpSpPr>
          <a:xfrm>
            <a:off x="424826" y="1892035"/>
            <a:ext cx="8294360" cy="572663"/>
            <a:chOff x="424813" y="2075689"/>
            <a:chExt cx="8294360" cy="849900"/>
          </a:xfrm>
        </p:grpSpPr>
        <p:sp>
          <p:nvSpPr>
            <p:cNvPr id="84" name="Google Shape;84;p16"/>
            <p:cNvSpPr/>
            <p:nvPr/>
          </p:nvSpPr>
          <p:spPr>
            <a:xfrm>
              <a:off x="2927672" y="2075689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424813" y="207568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16"/>
          <p:cNvSpPr txBox="1"/>
          <p:nvPr>
            <p:ph idx="4294967295" type="body"/>
          </p:nvPr>
        </p:nvSpPr>
        <p:spPr>
          <a:xfrm>
            <a:off x="539675" y="1892206"/>
            <a:ext cx="2422500" cy="57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CSV / EXCEL Files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7" name="Google Shape;87;p16"/>
          <p:cNvSpPr txBox="1"/>
          <p:nvPr>
            <p:ph idx="4294967295" type="body"/>
          </p:nvPr>
        </p:nvSpPr>
        <p:spPr>
          <a:xfrm>
            <a:off x="3480449" y="1892216"/>
            <a:ext cx="5111700" cy="57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Most common format for sharing Data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88" name="Google Shape;88;p16"/>
          <p:cNvGrpSpPr/>
          <p:nvPr/>
        </p:nvGrpSpPr>
        <p:grpSpPr>
          <a:xfrm>
            <a:off x="424826" y="2533889"/>
            <a:ext cx="8294360" cy="569965"/>
            <a:chOff x="424813" y="2974405"/>
            <a:chExt cx="8294360" cy="849933"/>
          </a:xfrm>
        </p:grpSpPr>
        <p:sp>
          <p:nvSpPr>
            <p:cNvPr id="89" name="Google Shape;89;p16"/>
            <p:cNvSpPr/>
            <p:nvPr/>
          </p:nvSpPr>
          <p:spPr>
            <a:xfrm>
              <a:off x="2927672" y="2974438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424813" y="297440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6"/>
          <p:cNvSpPr txBox="1"/>
          <p:nvPr>
            <p:ph idx="4294967295" type="body"/>
          </p:nvPr>
        </p:nvSpPr>
        <p:spPr>
          <a:xfrm>
            <a:off x="539675" y="2534064"/>
            <a:ext cx="2422500" cy="5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Database (SQL)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2" name="Google Shape;92;p16"/>
          <p:cNvSpPr txBox="1"/>
          <p:nvPr>
            <p:ph idx="4294967295" type="body"/>
          </p:nvPr>
        </p:nvSpPr>
        <p:spPr>
          <a:xfrm>
            <a:off x="3480449" y="2536589"/>
            <a:ext cx="5111700" cy="5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MySQL, PostgresSQL, SSMS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93" name="Google Shape;93;p16"/>
          <p:cNvGrpSpPr/>
          <p:nvPr/>
        </p:nvGrpSpPr>
        <p:grpSpPr>
          <a:xfrm>
            <a:off x="424826" y="3168256"/>
            <a:ext cx="8294360" cy="568265"/>
            <a:chOff x="424813" y="3871259"/>
            <a:chExt cx="8294360" cy="849933"/>
          </a:xfrm>
        </p:grpSpPr>
        <p:sp>
          <p:nvSpPr>
            <p:cNvPr id="94" name="Google Shape;94;p16"/>
            <p:cNvSpPr/>
            <p:nvPr/>
          </p:nvSpPr>
          <p:spPr>
            <a:xfrm>
              <a:off x="2927672" y="3871292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424813" y="387125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6"/>
          <p:cNvSpPr txBox="1"/>
          <p:nvPr>
            <p:ph idx="4294967295" type="body"/>
          </p:nvPr>
        </p:nvSpPr>
        <p:spPr>
          <a:xfrm>
            <a:off x="539675" y="3168429"/>
            <a:ext cx="2422500" cy="5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ERP Systems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7" name="Google Shape;97;p16"/>
          <p:cNvSpPr txBox="1"/>
          <p:nvPr>
            <p:ph idx="4294967295" type="body"/>
          </p:nvPr>
        </p:nvSpPr>
        <p:spPr>
          <a:xfrm>
            <a:off x="3480449" y="3170001"/>
            <a:ext cx="5111700" cy="5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SAP, Oracle, Microsoft Dynamic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>
            <a:off x="424838" y="3801906"/>
            <a:ext cx="8294360" cy="568265"/>
            <a:chOff x="424813" y="3871259"/>
            <a:chExt cx="8294360" cy="849933"/>
          </a:xfrm>
        </p:grpSpPr>
        <p:sp>
          <p:nvSpPr>
            <p:cNvPr id="99" name="Google Shape;99;p16"/>
            <p:cNvSpPr/>
            <p:nvPr/>
          </p:nvSpPr>
          <p:spPr>
            <a:xfrm>
              <a:off x="2927672" y="3871292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424813" y="387125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6"/>
          <p:cNvSpPr txBox="1"/>
          <p:nvPr>
            <p:ph idx="4294967295" type="body"/>
          </p:nvPr>
        </p:nvSpPr>
        <p:spPr>
          <a:xfrm>
            <a:off x="539688" y="3802079"/>
            <a:ext cx="2422500" cy="5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CRM Systems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2" name="Google Shape;102;p16"/>
          <p:cNvSpPr txBox="1"/>
          <p:nvPr>
            <p:ph idx="4294967295" type="body"/>
          </p:nvPr>
        </p:nvSpPr>
        <p:spPr>
          <a:xfrm>
            <a:off x="3480462" y="3803651"/>
            <a:ext cx="5111700" cy="5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Sales force, HubSpot, Zuho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03" name="Google Shape;103;p16"/>
          <p:cNvGrpSpPr/>
          <p:nvPr/>
        </p:nvGrpSpPr>
        <p:grpSpPr>
          <a:xfrm>
            <a:off x="424826" y="4437306"/>
            <a:ext cx="8294360" cy="568265"/>
            <a:chOff x="424813" y="3871259"/>
            <a:chExt cx="8294360" cy="849933"/>
          </a:xfrm>
        </p:grpSpPr>
        <p:sp>
          <p:nvSpPr>
            <p:cNvPr id="104" name="Google Shape;104;p16"/>
            <p:cNvSpPr/>
            <p:nvPr/>
          </p:nvSpPr>
          <p:spPr>
            <a:xfrm>
              <a:off x="2927672" y="3871292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424813" y="387125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6"/>
          <p:cNvSpPr txBox="1"/>
          <p:nvPr>
            <p:ph idx="4294967295" type="body"/>
          </p:nvPr>
        </p:nvSpPr>
        <p:spPr>
          <a:xfrm>
            <a:off x="539675" y="4437479"/>
            <a:ext cx="2422500" cy="5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Web Data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7" name="Google Shape;107;p16"/>
          <p:cNvSpPr txBox="1"/>
          <p:nvPr>
            <p:ph idx="4294967295" type="body"/>
          </p:nvPr>
        </p:nvSpPr>
        <p:spPr>
          <a:xfrm>
            <a:off x="3480449" y="4439051"/>
            <a:ext cx="5111700" cy="5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APIs, web scraping, Google Analytics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311700" y="383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Types Of Data:</a:t>
            </a:r>
            <a:endParaRPr b="1" sz="3500"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11700" y="1152475"/>
            <a:ext cx="3999900" cy="38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Structured Data</a:t>
            </a:r>
            <a:endParaRPr b="1" sz="21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Organized in rows and columns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Easy to search and analyze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Stored in databases, spreadsheets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Examples: Sales records, customer tables, inventory data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4" name="Google Shape;114;p17"/>
          <p:cNvSpPr txBox="1"/>
          <p:nvPr>
            <p:ph idx="2" type="body"/>
          </p:nvPr>
        </p:nvSpPr>
        <p:spPr>
          <a:xfrm>
            <a:off x="4832400" y="1152475"/>
            <a:ext cx="3999900" cy="3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Unstructured Data</a:t>
            </a:r>
            <a:endParaRPr b="1" sz="21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predefined format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Harder to process and analyze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Requires special tools to handle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Examples: Emails, PDFs, images, social media posts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537000" y="461100"/>
            <a:ext cx="8200500" cy="7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Data Cleaning in Excel:</a:t>
            </a:r>
            <a:endParaRPr sz="4200"/>
          </a:p>
        </p:txBody>
      </p:sp>
      <p:sp>
        <p:nvSpPr>
          <p:cNvPr id="120" name="Google Shape;120;p18"/>
          <p:cNvSpPr txBox="1"/>
          <p:nvPr/>
        </p:nvSpPr>
        <p:spPr>
          <a:xfrm>
            <a:off x="537000" y="1200600"/>
            <a:ext cx="7666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Essential techniques every analyst should know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576206" y="1814051"/>
            <a:ext cx="8200500" cy="3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Remove Duplicates </a:t>
            </a:r>
            <a:r>
              <a:rPr lang="en" sz="2000"/>
              <a:t>⇒ Data tab in excel &gt; Remove Duplicates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Fine and Replace </a:t>
            </a:r>
            <a:r>
              <a:rPr lang="en" sz="2000"/>
              <a:t>⇒ Ctrl + H &gt; fix inconsistent entries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Text To Column </a:t>
            </a:r>
            <a:r>
              <a:rPr lang="en" sz="2000"/>
              <a:t>⇒ Split data in one column into multiple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Trim() Function</a:t>
            </a:r>
            <a:r>
              <a:rPr lang="en" sz="2000"/>
              <a:t> ⇒ Remove extra data from from text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Clean() Function</a:t>
            </a:r>
            <a:r>
              <a:rPr lang="en" sz="2000"/>
              <a:t> ⇒ Remove non Printable characters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Proper()/Upper()/Lower()</a:t>
            </a:r>
            <a:r>
              <a:rPr lang="en" sz="2000"/>
              <a:t> ⇒ </a:t>
            </a:r>
            <a:r>
              <a:rPr lang="en" sz="2000"/>
              <a:t>Standardized</a:t>
            </a:r>
            <a:r>
              <a:rPr lang="en" sz="2000"/>
              <a:t> text cases.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Handle blanks</a:t>
            </a:r>
            <a:r>
              <a:rPr lang="en" sz="2000"/>
              <a:t> ⇒ Go to </a:t>
            </a:r>
            <a:r>
              <a:rPr lang="en" sz="2000"/>
              <a:t>special</a:t>
            </a:r>
            <a:r>
              <a:rPr lang="en" sz="2000"/>
              <a:t> &gt; blanks &gt; Fill or Delete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537000" y="461100"/>
            <a:ext cx="8200500" cy="7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Data Transformation in EXCEL</a:t>
            </a:r>
            <a:endParaRPr sz="4200"/>
          </a:p>
        </p:txBody>
      </p:sp>
      <p:sp>
        <p:nvSpPr>
          <p:cNvPr id="127" name="Google Shape;127;p19"/>
          <p:cNvSpPr txBox="1"/>
          <p:nvPr/>
        </p:nvSpPr>
        <p:spPr>
          <a:xfrm>
            <a:off x="537000" y="1200600"/>
            <a:ext cx="7666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Essential techniques every analyst should know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576212" y="1682701"/>
            <a:ext cx="8200500" cy="3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Date Formatting: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Converts dates into proper formatting using DATEVALUE() or text to columns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Number Formatting: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Remove Currency symbol, convert text to numbers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Creating categories: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Using of IF() and Vlookup()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Calculations: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Add derived columns like profit margins, percentages and more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Pivot Tables: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Aggregate and summarize data for analysis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ETL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ETL ( Extract, Transform, and Load)</a:t>
            </a:r>
            <a:endParaRPr/>
          </a:p>
        </p:txBody>
      </p:sp>
      <p:grpSp>
        <p:nvGrpSpPr>
          <p:cNvPr id="144" name="Google Shape;144;p22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145" name="Google Shape;145;p22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2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22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</a:rPr>
              <a:t>Extract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48" name="Google Shape;148;p22"/>
          <p:cNvSpPr txBox="1"/>
          <p:nvPr>
            <p:ph idx="4294967295" type="body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Pull data from various source systems (databases, files, APIs)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149" name="Google Shape;149;p22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150" name="Google Shape;150;p22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2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" name="Google Shape;152;p22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</a:rPr>
              <a:t>Transform</a:t>
            </a:r>
            <a:endParaRPr b="1" sz="2200">
              <a:solidFill>
                <a:schemeClr val="lt1"/>
              </a:solidFill>
            </a:endParaRPr>
          </a:p>
        </p:txBody>
      </p:sp>
      <p:sp>
        <p:nvSpPr>
          <p:cNvPr id="153" name="Google Shape;153;p22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Clean, format, validate, and restructure the data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grpSp>
        <p:nvGrpSpPr>
          <p:cNvPr id="154" name="Google Shape;154;p22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155" name="Google Shape;155;p22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2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22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</a:rPr>
              <a:t>Load</a:t>
            </a:r>
            <a:endParaRPr b="1" sz="2200">
              <a:solidFill>
                <a:schemeClr val="lt1"/>
              </a:solidFill>
            </a:endParaRPr>
          </a:p>
        </p:txBody>
      </p:sp>
      <p:sp>
        <p:nvSpPr>
          <p:cNvPr id="158" name="Google Shape;158;p22"/>
          <p:cNvSpPr txBox="1"/>
          <p:nvPr>
            <p:ph idx="4294967295" type="body"/>
          </p:nvPr>
        </p:nvSpPr>
        <p:spPr>
          <a:xfrm>
            <a:off x="6286400" y="1850300"/>
            <a:ext cx="2478600" cy="27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the processed data in a data warehouse or database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311700" y="49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ETL vs ELT</a:t>
            </a:r>
            <a:endParaRPr/>
          </a:p>
        </p:txBody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ETL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is extracted from source systems, transformed (cleaned, formatted, and structured) on a secondary processing server, and </a:t>
            </a:r>
            <a:r>
              <a:rPr i="1"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loaded into the target data warehouse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Highly structured datasets, strict data compliance and privacy requirements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Enhances security and data governance.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3"/>
          <p:cNvSpPr txBox="1"/>
          <p:nvPr>
            <p:ph idx="2" type="body"/>
          </p:nvPr>
        </p:nvSpPr>
        <p:spPr>
          <a:xfrm>
            <a:off x="4832400" y="1152475"/>
            <a:ext cx="39999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ELT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is extracted and loaded directly into the target destination in its raw state. Transformations take place with in the data warehouse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Massive datasets, unstructured data (like images or JSON files), and modern cloud data warehouses like Snowflake, Google BigQuery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Preserves all raw data history, giving analysts the flexibility to re-query and adjust transformations on demand.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ETL in Action</a:t>
            </a:r>
            <a:endParaRPr/>
          </a:p>
        </p:txBody>
      </p:sp>
      <p:sp>
        <p:nvSpPr>
          <p:cNvPr id="171" name="Google Shape;171;p24"/>
          <p:cNvSpPr txBox="1"/>
          <p:nvPr>
            <p:ph idx="4294967295" type="body"/>
          </p:nvPr>
        </p:nvSpPr>
        <p:spPr>
          <a:xfrm>
            <a:off x="266821" y="1304875"/>
            <a:ext cx="1822800" cy="195000"/>
          </a:xfrm>
          <a:prstGeom prst="rect">
            <a:avLst/>
          </a:prstGeom>
        </p:spPr>
        <p:txBody>
          <a:bodyPr anchorCtr="0" anchor="t" bIns="66800" lIns="66800" spcFirstLastPara="1" rIns="66800" wrap="square" tIns="6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15">
                <a:solidFill>
                  <a:schemeClr val="lt1"/>
                </a:solidFill>
              </a:rPr>
              <a:t>Extract</a:t>
            </a:r>
            <a:endParaRPr sz="1315">
              <a:solidFill>
                <a:schemeClr val="lt1"/>
              </a:solidFill>
            </a:endParaRPr>
          </a:p>
        </p:txBody>
      </p:sp>
      <p:grpSp>
        <p:nvGrpSpPr>
          <p:cNvPr id="172" name="Google Shape;172;p24"/>
          <p:cNvGrpSpPr/>
          <p:nvPr/>
        </p:nvGrpSpPr>
        <p:grpSpPr>
          <a:xfrm>
            <a:off x="2497001" y="1304969"/>
            <a:ext cx="2019917" cy="2005427"/>
            <a:chOff x="3320450" y="1304875"/>
            <a:chExt cx="2632500" cy="3416400"/>
          </a:xfrm>
        </p:grpSpPr>
        <p:sp>
          <p:nvSpPr>
            <p:cNvPr id="173" name="Google Shape;173;p2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2900" lIns="62900" spcFirstLastPara="1" rIns="62900" wrap="square" tIns="6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900" lIns="62900" spcFirstLastPara="1" rIns="62900" wrap="square" tIns="62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Extract from sources</a:t>
              </a:r>
              <a:endParaRPr sz="15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Clean &amp; standardize</a:t>
              </a:r>
              <a:endParaRPr sz="15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Join related tables</a:t>
              </a:r>
              <a:endParaRPr sz="15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Calculate metrics</a:t>
              </a:r>
              <a:endParaRPr sz="15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 Validate quality</a:t>
              </a:r>
              <a:endParaRPr sz="15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" name="Google Shape;175;p24"/>
          <p:cNvGrpSpPr/>
          <p:nvPr/>
        </p:nvGrpSpPr>
        <p:grpSpPr>
          <a:xfrm>
            <a:off x="196705" y="1317139"/>
            <a:ext cx="1920955" cy="2005427"/>
            <a:chOff x="431925" y="1304875"/>
            <a:chExt cx="2628925" cy="3416400"/>
          </a:xfrm>
        </p:grpSpPr>
        <p:sp>
          <p:nvSpPr>
            <p:cNvPr id="176" name="Google Shape;176;p2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6800" lIns="66800" spcFirstLastPara="1" rIns="66800" wrap="square" tIns="66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6800" lIns="66800" spcFirstLastPara="1" rIns="66800" wrap="square" tIns="66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</a:rPr>
                <a:t>CRM</a:t>
              </a:r>
              <a:endParaRPr sz="16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</a:rPr>
                <a:t>Sales force</a:t>
              </a:r>
              <a:endParaRPr sz="16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</a:rPr>
                <a:t>ERP</a:t>
              </a:r>
              <a:endParaRPr sz="16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</a:rPr>
                <a:t>CSV</a:t>
              </a:r>
              <a:endParaRPr sz="1600">
                <a:solidFill>
                  <a:schemeClr val="dk1"/>
                </a:solidFill>
              </a:endParaRPr>
            </a:p>
          </p:txBody>
        </p:sp>
      </p:grpSp>
      <p:sp>
        <p:nvSpPr>
          <p:cNvPr id="178" name="Google Shape;178;p24"/>
          <p:cNvSpPr txBox="1"/>
          <p:nvPr>
            <p:ph idx="4294967295" type="body"/>
          </p:nvPr>
        </p:nvSpPr>
        <p:spPr>
          <a:xfrm>
            <a:off x="2565632" y="1304938"/>
            <a:ext cx="1914300" cy="270900"/>
          </a:xfrm>
          <a:prstGeom prst="rect">
            <a:avLst/>
          </a:prstGeom>
        </p:spPr>
        <p:txBody>
          <a:bodyPr anchorCtr="0" anchor="t" bIns="62900" lIns="62900" spcFirstLastPara="1" rIns="62900" wrap="square" tIns="6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38">
                <a:solidFill>
                  <a:schemeClr val="lt1"/>
                </a:solidFill>
              </a:rPr>
              <a:t>ETL Process</a:t>
            </a:r>
            <a:endParaRPr b="1" sz="1538">
              <a:solidFill>
                <a:schemeClr val="lt1"/>
              </a:solidFill>
            </a:endParaRPr>
          </a:p>
        </p:txBody>
      </p:sp>
      <p:grpSp>
        <p:nvGrpSpPr>
          <p:cNvPr id="179" name="Google Shape;179;p24"/>
          <p:cNvGrpSpPr/>
          <p:nvPr/>
        </p:nvGrpSpPr>
        <p:grpSpPr>
          <a:xfrm>
            <a:off x="4896269" y="1327364"/>
            <a:ext cx="1811160" cy="1960672"/>
            <a:chOff x="6212550" y="1304875"/>
            <a:chExt cx="2632500" cy="3416400"/>
          </a:xfrm>
        </p:grpSpPr>
        <p:sp>
          <p:nvSpPr>
            <p:cNvPr id="180" name="Google Shape;180;p2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475" lIns="52475" spcFirstLastPara="1" rIns="52475" wrap="square" tIns="524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FFFFFF"/>
                  </a:solidFill>
                </a:rPr>
                <a:t>Clean, integrated, analysis-ready data</a:t>
              </a:r>
              <a:endParaRPr sz="15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81" name="Google Shape;181;p2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52475" lIns="52475" spcFirstLastPara="1" rIns="52475" wrap="square" tIns="5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24"/>
          <p:cNvSpPr txBox="1"/>
          <p:nvPr>
            <p:ph idx="4294967295" type="body"/>
          </p:nvPr>
        </p:nvSpPr>
        <p:spPr>
          <a:xfrm>
            <a:off x="4952932" y="1327350"/>
            <a:ext cx="1716300" cy="264900"/>
          </a:xfrm>
          <a:prstGeom prst="rect">
            <a:avLst/>
          </a:prstGeom>
        </p:spPr>
        <p:txBody>
          <a:bodyPr anchorCtr="0" anchor="t" bIns="52475" lIns="52475" spcFirstLastPara="1" rIns="52475" wrap="square" tIns="52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33">
                <a:solidFill>
                  <a:schemeClr val="lt1"/>
                </a:solidFill>
              </a:rPr>
              <a:t>Data Warehouse</a:t>
            </a:r>
            <a:endParaRPr b="1" sz="1533">
              <a:solidFill>
                <a:schemeClr val="lt1"/>
              </a:solidFill>
            </a:endParaRPr>
          </a:p>
        </p:txBody>
      </p:sp>
      <p:sp>
        <p:nvSpPr>
          <p:cNvPr id="183" name="Google Shape;183;p24"/>
          <p:cNvSpPr txBox="1"/>
          <p:nvPr>
            <p:ph idx="4294967295" type="body"/>
          </p:nvPr>
        </p:nvSpPr>
        <p:spPr>
          <a:xfrm>
            <a:off x="266810" y="1304875"/>
            <a:ext cx="1822800" cy="350400"/>
          </a:xfrm>
          <a:prstGeom prst="rect">
            <a:avLst/>
          </a:prstGeom>
        </p:spPr>
        <p:txBody>
          <a:bodyPr anchorCtr="0" anchor="t" bIns="66800" lIns="66800" spcFirstLastPara="1" rIns="66800" wrap="square" tIns="6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15">
                <a:solidFill>
                  <a:schemeClr val="lt1"/>
                </a:solidFill>
              </a:rPr>
              <a:t>Data Sources</a:t>
            </a:r>
            <a:endParaRPr b="1" sz="1615">
              <a:solidFill>
                <a:schemeClr val="lt1"/>
              </a:solidFill>
            </a:endParaRPr>
          </a:p>
        </p:txBody>
      </p:sp>
      <p:grpSp>
        <p:nvGrpSpPr>
          <p:cNvPr id="184" name="Google Shape;184;p24"/>
          <p:cNvGrpSpPr/>
          <p:nvPr/>
        </p:nvGrpSpPr>
        <p:grpSpPr>
          <a:xfrm>
            <a:off x="7086789" y="1327339"/>
            <a:ext cx="1811160" cy="1960672"/>
            <a:chOff x="6212550" y="1304875"/>
            <a:chExt cx="2632500" cy="3416400"/>
          </a:xfrm>
        </p:grpSpPr>
        <p:sp>
          <p:nvSpPr>
            <p:cNvPr id="185" name="Google Shape;185;p2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475" lIns="52475" spcFirstLastPara="1" rIns="52475" wrap="square" tIns="5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</a:rPr>
                <a:t>Forecast the trends and Reports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86" name="Google Shape;186;p2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52475" lIns="52475" spcFirstLastPara="1" rIns="52475" wrap="square" tIns="5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24"/>
          <p:cNvSpPr txBox="1"/>
          <p:nvPr>
            <p:ph idx="4294967295" type="body"/>
          </p:nvPr>
        </p:nvSpPr>
        <p:spPr>
          <a:xfrm>
            <a:off x="7143452" y="1327325"/>
            <a:ext cx="1716300" cy="264900"/>
          </a:xfrm>
          <a:prstGeom prst="rect">
            <a:avLst/>
          </a:prstGeom>
        </p:spPr>
        <p:txBody>
          <a:bodyPr anchorCtr="0" anchor="t" bIns="52475" lIns="52475" spcFirstLastPara="1" rIns="52475" wrap="square" tIns="52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33">
                <a:solidFill>
                  <a:schemeClr val="lt1"/>
                </a:solidFill>
              </a:rPr>
              <a:t>Dashboard</a:t>
            </a:r>
            <a:endParaRPr b="1" sz="1533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265500" y="1733850"/>
            <a:ext cx="4045200" cy="16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Warehousing</a:t>
            </a:r>
            <a:endParaRPr/>
          </a:p>
        </p:txBody>
      </p:sp>
      <p:sp>
        <p:nvSpPr>
          <p:cNvPr id="193" name="Google Shape;193;p2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central repository that stores integrated data from multiple sources, optimized for analysis and reporting rather than day-to-day operations.</a:t>
            </a:r>
            <a:endParaRPr sz="23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" name="Google Shape;198;p26"/>
          <p:cNvGraphicFramePr/>
          <p:nvPr/>
        </p:nvGraphicFramePr>
        <p:xfrm>
          <a:off x="631183" y="3575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{46E5F7B7-CB06-41BA-8655-36907831E855}</a:tableStyleId>
              </a:tblPr>
              <a:tblGrid>
                <a:gridCol w="2145600"/>
                <a:gridCol w="2784350"/>
                <a:gridCol w="3177425"/>
              </a:tblGrid>
              <a:tr h="9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FFFFFF"/>
                          </a:solidFill>
                        </a:rPr>
                        <a:t>Operational Database</a:t>
                      </a:r>
                      <a:endParaRPr b="1" sz="1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FFFFFF"/>
                          </a:solidFill>
                        </a:rPr>
                        <a:t>Data Warehouse</a:t>
                      </a:r>
                      <a:endParaRPr b="1" sz="1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955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334155"/>
                          </a:solidFill>
                        </a:rPr>
                        <a:t>Purpose</a:t>
                      </a:r>
                      <a:endParaRPr b="1" sz="1600">
                        <a:solidFill>
                          <a:srgbClr val="334155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34155"/>
                          </a:solidFill>
                        </a:rPr>
                        <a:t>Run daily operations</a:t>
                      </a:r>
                      <a:endParaRPr sz="1600">
                        <a:solidFill>
                          <a:srgbClr val="334155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34155"/>
                          </a:solidFill>
                        </a:rPr>
                        <a:t>Support analysis &amp; decisions</a:t>
                      </a:r>
                      <a:endParaRPr sz="1600">
                        <a:solidFill>
                          <a:srgbClr val="334155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6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334155"/>
                          </a:solidFill>
                        </a:rPr>
                        <a:t>Data</a:t>
                      </a:r>
                      <a:endParaRPr b="1" sz="1600">
                        <a:solidFill>
                          <a:srgbClr val="334155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34155"/>
                          </a:solidFill>
                        </a:rPr>
                        <a:t>Current, real-time</a:t>
                      </a:r>
                      <a:endParaRPr sz="1600">
                        <a:solidFill>
                          <a:srgbClr val="334155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34155"/>
                          </a:solidFill>
                        </a:rPr>
                        <a:t>Historical, aggregated</a:t>
                      </a:r>
                      <a:endParaRPr sz="1600">
                        <a:solidFill>
                          <a:srgbClr val="334155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6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334155"/>
                          </a:solidFill>
                        </a:rPr>
                        <a:t>Users</a:t>
                      </a:r>
                      <a:endParaRPr b="1" sz="1600">
                        <a:solidFill>
                          <a:srgbClr val="334155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34155"/>
                          </a:solidFill>
                        </a:rPr>
                        <a:t>Clerks, operators</a:t>
                      </a:r>
                      <a:endParaRPr sz="1600">
                        <a:solidFill>
                          <a:srgbClr val="334155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34155"/>
                          </a:solidFill>
                        </a:rPr>
                        <a:t>Analysts, managers</a:t>
                      </a:r>
                      <a:endParaRPr sz="1600">
                        <a:solidFill>
                          <a:srgbClr val="334155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6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334155"/>
                          </a:solidFill>
                        </a:rPr>
                        <a:t>Queries</a:t>
                      </a:r>
                      <a:endParaRPr b="1" sz="1600">
                        <a:solidFill>
                          <a:srgbClr val="334155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34155"/>
                          </a:solidFill>
                        </a:rPr>
                        <a:t>Simple, frequent</a:t>
                      </a:r>
                      <a:endParaRPr sz="1600">
                        <a:solidFill>
                          <a:srgbClr val="334155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34155"/>
                          </a:solidFill>
                        </a:rPr>
                        <a:t>Complex, occasional</a:t>
                      </a:r>
                      <a:endParaRPr sz="1600">
                        <a:solidFill>
                          <a:srgbClr val="334155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 Data to Dashboard</a:t>
            </a:r>
            <a:endParaRPr/>
          </a:p>
        </p:txBody>
      </p:sp>
      <p:grpSp>
        <p:nvGrpSpPr>
          <p:cNvPr id="204" name="Google Shape;204;p27"/>
          <p:cNvGrpSpPr/>
          <p:nvPr/>
        </p:nvGrpSpPr>
        <p:grpSpPr>
          <a:xfrm>
            <a:off x="424825" y="1253934"/>
            <a:ext cx="8294372" cy="572663"/>
            <a:chOff x="424813" y="1177875"/>
            <a:chExt cx="8294372" cy="849900"/>
          </a:xfrm>
        </p:grpSpPr>
        <p:sp>
          <p:nvSpPr>
            <p:cNvPr id="205" name="Google Shape;205;p27"/>
            <p:cNvSpPr/>
            <p:nvPr/>
          </p:nvSpPr>
          <p:spPr>
            <a:xfrm>
              <a:off x="2927684" y="1177875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7"/>
            <p:cNvSpPr/>
            <p:nvPr/>
          </p:nvSpPr>
          <p:spPr>
            <a:xfrm>
              <a:off x="424813" y="117787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" name="Google Shape;207;p27"/>
          <p:cNvSpPr txBox="1"/>
          <p:nvPr>
            <p:ph idx="4294967295" type="body"/>
          </p:nvPr>
        </p:nvSpPr>
        <p:spPr>
          <a:xfrm>
            <a:off x="539675" y="1254137"/>
            <a:ext cx="2422500" cy="57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Identify the Source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8" name="Google Shape;208;p27"/>
          <p:cNvSpPr txBox="1"/>
          <p:nvPr>
            <p:ph idx="4294967295" type="body"/>
          </p:nvPr>
        </p:nvSpPr>
        <p:spPr>
          <a:xfrm>
            <a:off x="3480454" y="1254107"/>
            <a:ext cx="5111700" cy="57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Where is the data? (CSV, API’s, Database)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09" name="Google Shape;209;p27"/>
          <p:cNvGrpSpPr/>
          <p:nvPr/>
        </p:nvGrpSpPr>
        <p:grpSpPr>
          <a:xfrm>
            <a:off x="424826" y="1889570"/>
            <a:ext cx="8294360" cy="572408"/>
            <a:chOff x="424813" y="2075689"/>
            <a:chExt cx="8294360" cy="849900"/>
          </a:xfrm>
        </p:grpSpPr>
        <p:sp>
          <p:nvSpPr>
            <p:cNvPr id="210" name="Google Shape;210;p27"/>
            <p:cNvSpPr/>
            <p:nvPr/>
          </p:nvSpPr>
          <p:spPr>
            <a:xfrm>
              <a:off x="2927672" y="2075689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424813" y="207568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27"/>
          <p:cNvSpPr txBox="1"/>
          <p:nvPr>
            <p:ph idx="4294967295" type="body"/>
          </p:nvPr>
        </p:nvSpPr>
        <p:spPr>
          <a:xfrm>
            <a:off x="539675" y="1889631"/>
            <a:ext cx="2422500" cy="5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Extract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3" name="Google Shape;213;p27"/>
          <p:cNvSpPr txBox="1"/>
          <p:nvPr>
            <p:ph idx="4294967295" type="body"/>
          </p:nvPr>
        </p:nvSpPr>
        <p:spPr>
          <a:xfrm>
            <a:off x="3480449" y="1889642"/>
            <a:ext cx="5111700" cy="5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Pull the data into work environment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14" name="Google Shape;214;p27"/>
          <p:cNvGrpSpPr/>
          <p:nvPr/>
        </p:nvGrpSpPr>
        <p:grpSpPr>
          <a:xfrm>
            <a:off x="424826" y="2524957"/>
            <a:ext cx="8294360" cy="570305"/>
            <a:chOff x="424813" y="2974405"/>
            <a:chExt cx="8294360" cy="849933"/>
          </a:xfrm>
        </p:grpSpPr>
        <p:sp>
          <p:nvSpPr>
            <p:cNvPr id="215" name="Google Shape;215;p27"/>
            <p:cNvSpPr/>
            <p:nvPr/>
          </p:nvSpPr>
          <p:spPr>
            <a:xfrm>
              <a:off x="2927672" y="2974438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424813" y="297440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" name="Google Shape;217;p27"/>
          <p:cNvSpPr txBox="1"/>
          <p:nvPr>
            <p:ph idx="4294967295" type="body"/>
          </p:nvPr>
        </p:nvSpPr>
        <p:spPr>
          <a:xfrm>
            <a:off x="539675" y="2524988"/>
            <a:ext cx="2422500" cy="57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Clean and Transform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8" name="Google Shape;218;p27"/>
          <p:cNvSpPr txBox="1"/>
          <p:nvPr>
            <p:ph idx="4294967295" type="body"/>
          </p:nvPr>
        </p:nvSpPr>
        <p:spPr>
          <a:xfrm>
            <a:off x="3480449" y="2527515"/>
            <a:ext cx="5111700" cy="57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Fix issues and </a:t>
            </a:r>
            <a:r>
              <a:rPr lang="en">
                <a:solidFill>
                  <a:schemeClr val="lt1"/>
                </a:solidFill>
              </a:rPr>
              <a:t>standardized</a:t>
            </a:r>
            <a:r>
              <a:rPr lang="en">
                <a:solidFill>
                  <a:schemeClr val="lt1"/>
                </a:solidFill>
              </a:rPr>
              <a:t> the format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19" name="Google Shape;219;p27"/>
          <p:cNvGrpSpPr/>
          <p:nvPr/>
        </p:nvGrpSpPr>
        <p:grpSpPr>
          <a:xfrm>
            <a:off x="424826" y="3152753"/>
            <a:ext cx="8294360" cy="568605"/>
            <a:chOff x="424813" y="3871259"/>
            <a:chExt cx="8294360" cy="849933"/>
          </a:xfrm>
        </p:grpSpPr>
        <p:sp>
          <p:nvSpPr>
            <p:cNvPr id="220" name="Google Shape;220;p27"/>
            <p:cNvSpPr/>
            <p:nvPr/>
          </p:nvSpPr>
          <p:spPr>
            <a:xfrm>
              <a:off x="2927672" y="3871292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7"/>
            <p:cNvSpPr/>
            <p:nvPr/>
          </p:nvSpPr>
          <p:spPr>
            <a:xfrm>
              <a:off x="424813" y="387125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27"/>
          <p:cNvSpPr txBox="1"/>
          <p:nvPr>
            <p:ph idx="4294967295" type="body"/>
          </p:nvPr>
        </p:nvSpPr>
        <p:spPr>
          <a:xfrm>
            <a:off x="539675" y="3152740"/>
            <a:ext cx="2422500" cy="56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Data Modelling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3" name="Google Shape;223;p27"/>
          <p:cNvSpPr txBox="1"/>
          <p:nvPr>
            <p:ph idx="4294967295" type="body"/>
          </p:nvPr>
        </p:nvSpPr>
        <p:spPr>
          <a:xfrm>
            <a:off x="3480449" y="3169994"/>
            <a:ext cx="5111700" cy="56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Define relationship betn tables and link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24" name="Google Shape;224;p27"/>
          <p:cNvGrpSpPr/>
          <p:nvPr/>
        </p:nvGrpSpPr>
        <p:grpSpPr>
          <a:xfrm>
            <a:off x="420411" y="3791276"/>
            <a:ext cx="8294360" cy="568605"/>
            <a:chOff x="424813" y="3871259"/>
            <a:chExt cx="8294360" cy="849933"/>
          </a:xfrm>
        </p:grpSpPr>
        <p:sp>
          <p:nvSpPr>
            <p:cNvPr id="225" name="Google Shape;225;p27"/>
            <p:cNvSpPr/>
            <p:nvPr/>
          </p:nvSpPr>
          <p:spPr>
            <a:xfrm>
              <a:off x="2927672" y="3871292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7"/>
            <p:cNvSpPr/>
            <p:nvPr/>
          </p:nvSpPr>
          <p:spPr>
            <a:xfrm>
              <a:off x="424813" y="387125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" name="Google Shape;227;p27"/>
          <p:cNvSpPr txBox="1"/>
          <p:nvPr>
            <p:ph idx="4294967295" type="body"/>
          </p:nvPr>
        </p:nvSpPr>
        <p:spPr>
          <a:xfrm>
            <a:off x="535261" y="3791264"/>
            <a:ext cx="2422500" cy="56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Create and Visualize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8" name="Google Shape;228;p27"/>
          <p:cNvSpPr txBox="1"/>
          <p:nvPr>
            <p:ph idx="4294967295" type="body"/>
          </p:nvPr>
        </p:nvSpPr>
        <p:spPr>
          <a:xfrm>
            <a:off x="3476035" y="3808518"/>
            <a:ext cx="5111700" cy="56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Create charts and diagrams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29" name="Google Shape;229;p27"/>
          <p:cNvGrpSpPr/>
          <p:nvPr/>
        </p:nvGrpSpPr>
        <p:grpSpPr>
          <a:xfrm>
            <a:off x="415997" y="4429800"/>
            <a:ext cx="8294360" cy="568605"/>
            <a:chOff x="424813" y="3871259"/>
            <a:chExt cx="8294360" cy="849933"/>
          </a:xfrm>
        </p:grpSpPr>
        <p:sp>
          <p:nvSpPr>
            <p:cNvPr id="230" name="Google Shape;230;p27"/>
            <p:cNvSpPr/>
            <p:nvPr/>
          </p:nvSpPr>
          <p:spPr>
            <a:xfrm>
              <a:off x="2927672" y="3871292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7"/>
            <p:cNvSpPr/>
            <p:nvPr/>
          </p:nvSpPr>
          <p:spPr>
            <a:xfrm>
              <a:off x="424813" y="387125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27"/>
          <p:cNvSpPr txBox="1"/>
          <p:nvPr>
            <p:ph idx="4294967295" type="body"/>
          </p:nvPr>
        </p:nvSpPr>
        <p:spPr>
          <a:xfrm>
            <a:off x="530847" y="4429787"/>
            <a:ext cx="2422500" cy="56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Publish Dashboard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3" name="Google Shape;233;p27"/>
          <p:cNvSpPr txBox="1"/>
          <p:nvPr>
            <p:ph idx="4294967295" type="body"/>
          </p:nvPr>
        </p:nvSpPr>
        <p:spPr>
          <a:xfrm>
            <a:off x="3471621" y="4447041"/>
            <a:ext cx="5111700" cy="56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Share with stakeholders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Quality </a:t>
            </a:r>
            <a:r>
              <a:rPr lang="en"/>
              <a:t>Assessment</a:t>
            </a:r>
            <a:endParaRPr/>
          </a:p>
        </p:txBody>
      </p:sp>
      <p:sp>
        <p:nvSpPr>
          <p:cNvPr id="239" name="Google Shape;239;p28"/>
          <p:cNvSpPr txBox="1"/>
          <p:nvPr>
            <p:ph idx="4294967295" type="body"/>
          </p:nvPr>
        </p:nvSpPr>
        <p:spPr>
          <a:xfrm>
            <a:off x="311700" y="1641200"/>
            <a:ext cx="5220600" cy="29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Completeness - </a:t>
            </a:r>
            <a:r>
              <a:rPr lang="en"/>
              <a:t>Are there any missing values?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Accuracy </a:t>
            </a:r>
            <a:r>
              <a:rPr lang="en" sz="2000"/>
              <a:t>- Is data correct and reliable?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Consistency </a:t>
            </a:r>
            <a:r>
              <a:rPr lang="en" sz="2000"/>
              <a:t>- Is data </a:t>
            </a:r>
            <a:r>
              <a:rPr lang="en" sz="2000"/>
              <a:t>formatted</a:t>
            </a:r>
            <a:r>
              <a:rPr lang="en" sz="2000"/>
              <a:t> uniformly?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Concurrent - </a:t>
            </a:r>
            <a:r>
              <a:rPr lang="en" sz="2000"/>
              <a:t>Is data upto date or outdated?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Uniqueness </a:t>
            </a:r>
            <a:r>
              <a:rPr lang="en" sz="2000"/>
              <a:t>- Are there any duplicates?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Validity </a:t>
            </a:r>
            <a:r>
              <a:rPr lang="en" sz="2000"/>
              <a:t>- Does data follow business plan?</a:t>
            </a:r>
            <a:endParaRPr sz="2000"/>
          </a:p>
        </p:txBody>
      </p:sp>
      <p:sp>
        <p:nvSpPr>
          <p:cNvPr id="240" name="Google Shape;240;p28"/>
          <p:cNvSpPr txBox="1"/>
          <p:nvPr>
            <p:ph idx="4294967295" type="body"/>
          </p:nvPr>
        </p:nvSpPr>
        <p:spPr>
          <a:xfrm>
            <a:off x="7996175" y="254200"/>
            <a:ext cx="689400" cy="21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2"/>
                </a:solidFill>
              </a:rPr>
              <a:t>Item 1</a:t>
            </a:r>
            <a:endParaRPr sz="1400">
              <a:solidFill>
                <a:schemeClr val="lt2"/>
              </a:solidFill>
            </a:endParaRPr>
          </a:p>
        </p:txBody>
      </p:sp>
      <p:sp>
        <p:nvSpPr>
          <p:cNvPr id="241" name="Google Shape;241;p28"/>
          <p:cNvSpPr/>
          <p:nvPr/>
        </p:nvSpPr>
        <p:spPr>
          <a:xfrm>
            <a:off x="8685573" y="254209"/>
            <a:ext cx="219000" cy="21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8"/>
          <p:cNvSpPr txBox="1"/>
          <p:nvPr>
            <p:ph idx="4294967295" type="body"/>
          </p:nvPr>
        </p:nvSpPr>
        <p:spPr>
          <a:xfrm>
            <a:off x="7996175" y="602125"/>
            <a:ext cx="689400" cy="21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2"/>
                </a:solidFill>
              </a:rPr>
              <a:t>Item 2</a:t>
            </a:r>
            <a:endParaRPr sz="1400">
              <a:solidFill>
                <a:schemeClr val="lt2"/>
              </a:solidFill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8685573" y="602134"/>
            <a:ext cx="219000" cy="21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8"/>
          <p:cNvSpPr txBox="1"/>
          <p:nvPr>
            <p:ph idx="4294967295" type="body"/>
          </p:nvPr>
        </p:nvSpPr>
        <p:spPr>
          <a:xfrm>
            <a:off x="5688925" y="454470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20XX</a:t>
            </a:r>
            <a:endParaRPr sz="1400"/>
          </a:p>
        </p:txBody>
      </p:sp>
      <p:sp>
        <p:nvSpPr>
          <p:cNvPr id="245" name="Google Shape;245;p28"/>
          <p:cNvSpPr txBox="1"/>
          <p:nvPr>
            <p:ph idx="4294967295" type="body"/>
          </p:nvPr>
        </p:nvSpPr>
        <p:spPr>
          <a:xfrm>
            <a:off x="5689050" y="274585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5"/>
                </a:solidFill>
              </a:rPr>
              <a:t>20</a:t>
            </a:r>
            <a:endParaRPr sz="1400">
              <a:solidFill>
                <a:schemeClr val="accent5"/>
              </a:solidFill>
            </a:endParaRPr>
          </a:p>
        </p:txBody>
      </p:sp>
      <p:sp>
        <p:nvSpPr>
          <p:cNvPr id="246" name="Google Shape;246;p28"/>
          <p:cNvSpPr/>
          <p:nvPr/>
        </p:nvSpPr>
        <p:spPr>
          <a:xfrm>
            <a:off x="5688763" y="3060256"/>
            <a:ext cx="689700" cy="37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"/>
          <p:cNvSpPr txBox="1"/>
          <p:nvPr>
            <p:ph idx="4294967295" type="body"/>
          </p:nvPr>
        </p:nvSpPr>
        <p:spPr>
          <a:xfrm>
            <a:off x="5689075" y="3083375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5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248" name="Google Shape;248;p28"/>
          <p:cNvSpPr/>
          <p:nvPr/>
        </p:nvSpPr>
        <p:spPr>
          <a:xfrm>
            <a:off x="5688775" y="3432000"/>
            <a:ext cx="689700" cy="111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"/>
          <p:cNvSpPr txBox="1"/>
          <p:nvPr>
            <p:ph idx="4294967295" type="body"/>
          </p:nvPr>
        </p:nvSpPr>
        <p:spPr>
          <a:xfrm>
            <a:off x="5689050" y="3814038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15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250" name="Google Shape;250;p28"/>
          <p:cNvSpPr txBox="1"/>
          <p:nvPr>
            <p:ph idx="4294967295" type="body"/>
          </p:nvPr>
        </p:nvSpPr>
        <p:spPr>
          <a:xfrm>
            <a:off x="6534813" y="454470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20XX</a:t>
            </a:r>
            <a:endParaRPr sz="1400"/>
          </a:p>
        </p:txBody>
      </p:sp>
      <p:sp>
        <p:nvSpPr>
          <p:cNvPr id="251" name="Google Shape;251;p28"/>
          <p:cNvSpPr txBox="1"/>
          <p:nvPr>
            <p:ph idx="4294967295" type="body"/>
          </p:nvPr>
        </p:nvSpPr>
        <p:spPr>
          <a:xfrm>
            <a:off x="6534825" y="206910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5"/>
                </a:solidFill>
              </a:rPr>
              <a:t>29</a:t>
            </a:r>
            <a:endParaRPr sz="1400">
              <a:solidFill>
                <a:schemeClr val="accent5"/>
              </a:solidFill>
            </a:endParaRPr>
          </a:p>
        </p:txBody>
      </p:sp>
      <p:sp>
        <p:nvSpPr>
          <p:cNvPr id="252" name="Google Shape;252;p28"/>
          <p:cNvSpPr/>
          <p:nvPr/>
        </p:nvSpPr>
        <p:spPr>
          <a:xfrm>
            <a:off x="6534875" y="2383507"/>
            <a:ext cx="689400" cy="30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8"/>
          <p:cNvSpPr txBox="1"/>
          <p:nvPr>
            <p:ph idx="4294967295" type="body"/>
          </p:nvPr>
        </p:nvSpPr>
        <p:spPr>
          <a:xfrm>
            <a:off x="6534875" y="2380513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4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254" name="Google Shape;254;p28"/>
          <p:cNvSpPr/>
          <p:nvPr/>
        </p:nvSpPr>
        <p:spPr>
          <a:xfrm>
            <a:off x="6534875" y="2689800"/>
            <a:ext cx="689400" cy="1855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8"/>
          <p:cNvSpPr txBox="1"/>
          <p:nvPr>
            <p:ph idx="4294967295" type="body"/>
          </p:nvPr>
        </p:nvSpPr>
        <p:spPr>
          <a:xfrm>
            <a:off x="6534850" y="338335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25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256" name="Google Shape;256;p28"/>
          <p:cNvSpPr txBox="1"/>
          <p:nvPr>
            <p:ph idx="4294967295" type="body"/>
          </p:nvPr>
        </p:nvSpPr>
        <p:spPr>
          <a:xfrm>
            <a:off x="7380800" y="454470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20XX</a:t>
            </a:r>
            <a:endParaRPr sz="1400"/>
          </a:p>
        </p:txBody>
      </p:sp>
      <p:sp>
        <p:nvSpPr>
          <p:cNvPr id="257" name="Google Shape;257;p28"/>
          <p:cNvSpPr txBox="1"/>
          <p:nvPr>
            <p:ph idx="4294967295" type="body"/>
          </p:nvPr>
        </p:nvSpPr>
        <p:spPr>
          <a:xfrm>
            <a:off x="7380800" y="132690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5"/>
                </a:solidFill>
              </a:rPr>
              <a:t>39</a:t>
            </a:r>
            <a:endParaRPr sz="1400">
              <a:solidFill>
                <a:schemeClr val="accent5"/>
              </a:solidFill>
            </a:endParaRPr>
          </a:p>
        </p:txBody>
      </p:sp>
      <p:sp>
        <p:nvSpPr>
          <p:cNvPr id="258" name="Google Shape;258;p28"/>
          <p:cNvSpPr/>
          <p:nvPr/>
        </p:nvSpPr>
        <p:spPr>
          <a:xfrm>
            <a:off x="7380700" y="1641307"/>
            <a:ext cx="689400" cy="30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8"/>
          <p:cNvSpPr txBox="1"/>
          <p:nvPr>
            <p:ph idx="4294967295" type="body"/>
          </p:nvPr>
        </p:nvSpPr>
        <p:spPr>
          <a:xfrm>
            <a:off x="7374938" y="1641288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4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7380700" y="1947601"/>
            <a:ext cx="689400" cy="259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8"/>
          <p:cNvSpPr txBox="1"/>
          <p:nvPr>
            <p:ph idx="4294967295" type="body"/>
          </p:nvPr>
        </p:nvSpPr>
        <p:spPr>
          <a:xfrm>
            <a:off x="7374913" y="293580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35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262" name="Google Shape;262;p28"/>
          <p:cNvSpPr txBox="1"/>
          <p:nvPr>
            <p:ph idx="4294967295" type="body"/>
          </p:nvPr>
        </p:nvSpPr>
        <p:spPr>
          <a:xfrm>
            <a:off x="8226775" y="454470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20XX</a:t>
            </a:r>
            <a:endParaRPr sz="1400"/>
          </a:p>
        </p:txBody>
      </p:sp>
      <p:sp>
        <p:nvSpPr>
          <p:cNvPr id="263" name="Google Shape;263;p28"/>
          <p:cNvSpPr txBox="1"/>
          <p:nvPr>
            <p:ph idx="4294967295" type="body"/>
          </p:nvPr>
        </p:nvSpPr>
        <p:spPr>
          <a:xfrm>
            <a:off x="8215175" y="222130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5"/>
                </a:solidFill>
              </a:rPr>
              <a:t>27</a:t>
            </a:r>
            <a:endParaRPr sz="1400">
              <a:solidFill>
                <a:schemeClr val="accent5"/>
              </a:solidFill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8215013" y="2535706"/>
            <a:ext cx="689700" cy="37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8"/>
          <p:cNvSpPr txBox="1"/>
          <p:nvPr>
            <p:ph idx="4294967295" type="body"/>
          </p:nvPr>
        </p:nvSpPr>
        <p:spPr>
          <a:xfrm>
            <a:off x="8226525" y="2564038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5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8215175" y="2906800"/>
            <a:ext cx="689400" cy="163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"/>
          <p:cNvSpPr txBox="1"/>
          <p:nvPr>
            <p:ph idx="4294967295" type="body"/>
          </p:nvPr>
        </p:nvSpPr>
        <p:spPr>
          <a:xfrm>
            <a:off x="8226525" y="338300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22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268" name="Google Shape;268;p28"/>
          <p:cNvSpPr txBox="1"/>
          <p:nvPr/>
        </p:nvSpPr>
        <p:spPr>
          <a:xfrm>
            <a:off x="311700" y="1135400"/>
            <a:ext cx="73566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Before analyzing the data, always assess your data Quality</a:t>
            </a:r>
            <a:endParaRPr sz="2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"/>
          <p:cNvSpPr txBox="1"/>
          <p:nvPr>
            <p:ph idx="4294967295" type="title"/>
          </p:nvPr>
        </p:nvSpPr>
        <p:spPr>
          <a:xfrm>
            <a:off x="311700" y="445025"/>
            <a:ext cx="846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Validation Technique</a:t>
            </a:r>
            <a:endParaRPr/>
          </a:p>
        </p:txBody>
      </p:sp>
      <p:sp>
        <p:nvSpPr>
          <p:cNvPr id="274" name="Google Shape;274;p29"/>
          <p:cNvSpPr txBox="1"/>
          <p:nvPr>
            <p:ph idx="4294967295" type="body"/>
          </p:nvPr>
        </p:nvSpPr>
        <p:spPr>
          <a:xfrm>
            <a:off x="311700" y="1097700"/>
            <a:ext cx="8469900" cy="3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1900"/>
              <a:t>Range Check - </a:t>
            </a:r>
            <a:r>
              <a:rPr lang="en" sz="1900"/>
              <a:t>Value of age must be checked, dates must be in valid ranges.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Format Validation </a:t>
            </a:r>
            <a:r>
              <a:rPr lang="en" sz="1900"/>
              <a:t>- Email Patterns, phone no. formats, amount and data types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Cross-Field Validation </a:t>
            </a:r>
            <a:r>
              <a:rPr lang="en" sz="1900"/>
              <a:t>- End date must be greater than start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Referral Integrity </a:t>
            </a:r>
            <a:r>
              <a:rPr lang="en" sz="1900"/>
              <a:t>- ID must be exist in the tables like customer_id, item_code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Statistics Checks</a:t>
            </a:r>
            <a:r>
              <a:rPr lang="en" sz="1900"/>
              <a:t> - Look for outliers using mean +/- deviations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Completeness Check</a:t>
            </a:r>
            <a:r>
              <a:rPr lang="en" sz="1900"/>
              <a:t> - Required field must not be empty.</a:t>
            </a:r>
            <a:endParaRPr sz="1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 txBox="1"/>
          <p:nvPr>
            <p:ph type="title"/>
          </p:nvPr>
        </p:nvSpPr>
        <p:spPr>
          <a:xfrm>
            <a:off x="537000" y="210200"/>
            <a:ext cx="8200500" cy="7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Python For Data Preparation</a:t>
            </a:r>
            <a:endParaRPr sz="4200"/>
          </a:p>
        </p:txBody>
      </p:sp>
      <p:sp>
        <p:nvSpPr>
          <p:cNvPr id="280" name="Google Shape;280;p30"/>
          <p:cNvSpPr txBox="1"/>
          <p:nvPr/>
        </p:nvSpPr>
        <p:spPr>
          <a:xfrm>
            <a:off x="557175" y="949700"/>
            <a:ext cx="8200500" cy="22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Why Python?</a:t>
            </a:r>
            <a:endParaRPr b="1" sz="20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Open Source and </a:t>
            </a:r>
            <a:r>
              <a:rPr lang="en" sz="1800"/>
              <a:t>available</a:t>
            </a:r>
            <a:r>
              <a:rPr lang="en" sz="1800"/>
              <a:t> free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Handles large datasets easily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Automates </a:t>
            </a:r>
            <a:r>
              <a:rPr lang="en" sz="1800"/>
              <a:t>repetitive</a:t>
            </a:r>
            <a:r>
              <a:rPr lang="en" sz="1800"/>
              <a:t> tasks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Extensive</a:t>
            </a:r>
            <a:r>
              <a:rPr lang="en" sz="1800"/>
              <a:t> </a:t>
            </a:r>
            <a:r>
              <a:rPr lang="en" sz="1800"/>
              <a:t>Libraries</a:t>
            </a:r>
            <a:r>
              <a:rPr lang="en" sz="1800"/>
              <a:t> like numpy, pandas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Industry standard for data science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1" name="Google Shape;281;p30"/>
          <p:cNvSpPr txBox="1"/>
          <p:nvPr/>
        </p:nvSpPr>
        <p:spPr>
          <a:xfrm>
            <a:off x="620250" y="3026477"/>
            <a:ext cx="8200500" cy="21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334155"/>
                </a:solidFill>
                <a:latin typeface="Average"/>
                <a:ea typeface="Average"/>
                <a:cs typeface="Average"/>
                <a:sym typeface="Average"/>
              </a:rPr>
              <a:t>Basic Libraries </a:t>
            </a:r>
            <a:endParaRPr b="1" sz="2000">
              <a:solidFill>
                <a:srgbClr val="334155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4155"/>
                </a:solidFill>
                <a:latin typeface="Average"/>
                <a:ea typeface="Average"/>
                <a:cs typeface="Average"/>
                <a:sym typeface="Average"/>
              </a:rPr>
              <a:t>Pandas:  </a:t>
            </a:r>
            <a:r>
              <a:rPr lang="en" sz="1800">
                <a:solidFill>
                  <a:srgbClr val="334155"/>
                </a:solidFill>
                <a:latin typeface="Average"/>
                <a:ea typeface="Average"/>
                <a:cs typeface="Average"/>
                <a:sym typeface="Average"/>
              </a:rPr>
              <a:t>Go to libraries for data </a:t>
            </a:r>
            <a:r>
              <a:rPr lang="en" sz="1800">
                <a:solidFill>
                  <a:srgbClr val="334155"/>
                </a:solidFill>
                <a:latin typeface="Average"/>
                <a:ea typeface="Average"/>
                <a:cs typeface="Average"/>
                <a:sym typeface="Average"/>
              </a:rPr>
              <a:t>manipulation</a:t>
            </a:r>
            <a:r>
              <a:rPr lang="en" sz="1800">
                <a:solidFill>
                  <a:srgbClr val="334155"/>
                </a:solidFill>
                <a:latin typeface="Average"/>
                <a:ea typeface="Average"/>
                <a:cs typeface="Average"/>
                <a:sym typeface="Average"/>
              </a:rPr>
              <a:t>, provides data structure as data frames, and helps to load files and read the datasets</a:t>
            </a:r>
            <a:endParaRPr sz="1800">
              <a:solidFill>
                <a:srgbClr val="334155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4155"/>
                </a:solidFill>
                <a:latin typeface="Average"/>
                <a:ea typeface="Average"/>
                <a:cs typeface="Average"/>
                <a:sym typeface="Average"/>
              </a:rPr>
              <a:t>Numpy: </a:t>
            </a:r>
            <a:r>
              <a:rPr lang="en" sz="1800">
                <a:solidFill>
                  <a:srgbClr val="334155"/>
                </a:solidFill>
                <a:latin typeface="Average"/>
                <a:ea typeface="Average"/>
                <a:cs typeface="Average"/>
                <a:sym typeface="Average"/>
              </a:rPr>
              <a:t>Used for Scientific computing, ML and data science, vectorization and matrix.</a:t>
            </a:r>
            <a:endParaRPr sz="1800">
              <a:solidFill>
                <a:srgbClr val="334155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4155"/>
                </a:solidFill>
                <a:latin typeface="Average"/>
                <a:ea typeface="Average"/>
                <a:cs typeface="Average"/>
                <a:sym typeface="Average"/>
              </a:rPr>
              <a:t>Matplotlib: </a:t>
            </a:r>
            <a:r>
              <a:rPr lang="en" sz="1800">
                <a:solidFill>
                  <a:srgbClr val="334155"/>
                </a:solidFill>
                <a:latin typeface="Average"/>
                <a:ea typeface="Average"/>
                <a:cs typeface="Average"/>
                <a:sym typeface="Average"/>
              </a:rPr>
              <a:t>Used to create static, animated, and interactive data visualizations</a:t>
            </a:r>
            <a:r>
              <a:rPr b="1" lang="en" sz="1800">
                <a:solidFill>
                  <a:srgbClr val="334155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endParaRPr b="1" sz="1800">
              <a:solidFill>
                <a:srgbClr val="334155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1"/>
          <p:cNvSpPr txBox="1"/>
          <p:nvPr>
            <p:ph type="title"/>
          </p:nvPr>
        </p:nvSpPr>
        <p:spPr>
          <a:xfrm>
            <a:off x="537000" y="210200"/>
            <a:ext cx="8200500" cy="7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Common pandas Operations</a:t>
            </a:r>
            <a:endParaRPr b="1" sz="4200"/>
          </a:p>
        </p:txBody>
      </p:sp>
      <p:graphicFrame>
        <p:nvGraphicFramePr>
          <p:cNvPr id="287" name="Google Shape;287;p31"/>
          <p:cNvGraphicFramePr/>
          <p:nvPr/>
        </p:nvGraphicFramePr>
        <p:xfrm>
          <a:off x="537000" y="94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{67766EA4-1180-4B5A-BCB3-3A8511ABA6F2}</a:tableStyleId>
              </a:tblPr>
              <a:tblGrid>
                <a:gridCol w="3865725"/>
                <a:gridCol w="3865725"/>
              </a:tblGrid>
              <a:tr h="46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Read CSV / Dataaser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pd.read_csv(‘file.csv’)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6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View Structure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df.info(), df.describe()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6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Check For Nulls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df.isnull().sum()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6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Drop Duplicates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df.drop_duplicates()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6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Fill Missing Values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df.fillna()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6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Filter rows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4155"/>
                          </a:solidFill>
                        </a:rPr>
                        <a:t>df[df['column'] &gt; 100]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6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Create new column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4155"/>
                          </a:solidFill>
                        </a:rPr>
                        <a:t>df['profit'] = df['revenue'] - df['cost']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6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Save to File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4155"/>
                          </a:solidFill>
                        </a:rPr>
                        <a:t>df.to_csv('clean_data.csv')</a:t>
                      </a:r>
                      <a:r>
                        <a:rPr lang="en"/>
                        <a:t> </a:t>
                      </a:r>
                      <a:endParaRPr sz="17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2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